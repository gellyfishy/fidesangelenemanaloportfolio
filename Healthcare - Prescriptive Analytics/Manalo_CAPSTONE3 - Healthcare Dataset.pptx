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Bernoru" charset="1" panose="00000A00000000000000"/>
      <p:regular r:id="rId18"/>
    </p:embeddedFont>
    <p:embeddedFont>
      <p:font typeface="Alata"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Freeform 2" id="2"/>
          <p:cNvSpPr/>
          <p:nvPr/>
        </p:nvSpPr>
        <p:spPr>
          <a:xfrm flipH="true" flipV="false" rot="3973336">
            <a:off x="16635788" y="3443037"/>
            <a:ext cx="1689234" cy="3120987"/>
          </a:xfrm>
          <a:custGeom>
            <a:avLst/>
            <a:gdLst/>
            <a:ahLst/>
            <a:cxnLst/>
            <a:rect r="r" b="b" t="t" l="l"/>
            <a:pathLst>
              <a:path h="3120987" w="1689234">
                <a:moveTo>
                  <a:pt x="1689235" y="0"/>
                </a:moveTo>
                <a:lnTo>
                  <a:pt x="0" y="0"/>
                </a:lnTo>
                <a:lnTo>
                  <a:pt x="0" y="3120987"/>
                </a:lnTo>
                <a:lnTo>
                  <a:pt x="1689235" y="3120987"/>
                </a:lnTo>
                <a:lnTo>
                  <a:pt x="16892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731359">
            <a:off x="15264036" y="7533131"/>
            <a:ext cx="3311802" cy="3067557"/>
          </a:xfrm>
          <a:custGeom>
            <a:avLst/>
            <a:gdLst/>
            <a:ahLst/>
            <a:cxnLst/>
            <a:rect r="r" b="b" t="t" l="l"/>
            <a:pathLst>
              <a:path h="3067557" w="3311802">
                <a:moveTo>
                  <a:pt x="3311802" y="0"/>
                </a:moveTo>
                <a:lnTo>
                  <a:pt x="0" y="0"/>
                </a:lnTo>
                <a:lnTo>
                  <a:pt x="0" y="3067557"/>
                </a:lnTo>
                <a:lnTo>
                  <a:pt x="3311802" y="3067557"/>
                </a:lnTo>
                <a:lnTo>
                  <a:pt x="331180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39074">
            <a:off x="12699038" y="8732525"/>
            <a:ext cx="1725885" cy="2524146"/>
          </a:xfrm>
          <a:custGeom>
            <a:avLst/>
            <a:gdLst/>
            <a:ahLst/>
            <a:cxnLst/>
            <a:rect r="r" b="b" t="t" l="l"/>
            <a:pathLst>
              <a:path h="2524146" w="1725885">
                <a:moveTo>
                  <a:pt x="1725885" y="0"/>
                </a:moveTo>
                <a:lnTo>
                  <a:pt x="0" y="0"/>
                </a:lnTo>
                <a:lnTo>
                  <a:pt x="0" y="2524145"/>
                </a:lnTo>
                <a:lnTo>
                  <a:pt x="1725885" y="2524145"/>
                </a:lnTo>
                <a:lnTo>
                  <a:pt x="172588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290566">
            <a:off x="15399726" y="1231222"/>
            <a:ext cx="2576564" cy="2286701"/>
          </a:xfrm>
          <a:custGeom>
            <a:avLst/>
            <a:gdLst/>
            <a:ahLst/>
            <a:cxnLst/>
            <a:rect r="r" b="b" t="t" l="l"/>
            <a:pathLst>
              <a:path h="2286701" w="2576564">
                <a:moveTo>
                  <a:pt x="2576564" y="0"/>
                </a:moveTo>
                <a:lnTo>
                  <a:pt x="0" y="0"/>
                </a:lnTo>
                <a:lnTo>
                  <a:pt x="0" y="2286701"/>
                </a:lnTo>
                <a:lnTo>
                  <a:pt x="2576564" y="2286701"/>
                </a:lnTo>
                <a:lnTo>
                  <a:pt x="257656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6" id="6"/>
          <p:cNvSpPr/>
          <p:nvPr/>
        </p:nvSpPr>
        <p:spPr>
          <a:xfrm>
            <a:off x="3709350" y="7237129"/>
            <a:ext cx="10869299" cy="0"/>
          </a:xfrm>
          <a:prstGeom prst="line">
            <a:avLst/>
          </a:prstGeom>
          <a:ln cap="flat" w="38100">
            <a:solidFill>
              <a:srgbClr val="BFD8EF"/>
            </a:solidFill>
            <a:prstDash val="solid"/>
            <a:headEnd type="none" len="sm" w="sm"/>
            <a:tailEnd type="none" len="sm" w="sm"/>
          </a:ln>
        </p:spPr>
      </p:sp>
      <p:sp>
        <p:nvSpPr>
          <p:cNvPr name="Freeform 7" id="7"/>
          <p:cNvSpPr/>
          <p:nvPr/>
        </p:nvSpPr>
        <p:spPr>
          <a:xfrm flipH="false" flipV="false" rot="611243">
            <a:off x="-2304746" y="2380416"/>
            <a:ext cx="6414107" cy="12701203"/>
          </a:xfrm>
          <a:custGeom>
            <a:avLst/>
            <a:gdLst/>
            <a:ahLst/>
            <a:cxnLst/>
            <a:rect r="r" b="b" t="t" l="l"/>
            <a:pathLst>
              <a:path h="12701203" w="6414107">
                <a:moveTo>
                  <a:pt x="0" y="0"/>
                </a:moveTo>
                <a:lnTo>
                  <a:pt x="6414108" y="0"/>
                </a:lnTo>
                <a:lnTo>
                  <a:pt x="6414108" y="12701203"/>
                </a:lnTo>
                <a:lnTo>
                  <a:pt x="0" y="127012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1458786" y="7872963"/>
            <a:ext cx="441456" cy="4414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0" id="10"/>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8791720" y="8632888"/>
            <a:ext cx="704559" cy="70455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3" id="13"/>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2627919" y="1028700"/>
            <a:ext cx="704559" cy="70455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6" id="16"/>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13597082" y="1028700"/>
            <a:ext cx="704559" cy="70455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9" id="19"/>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0">
            <a:off x="15491103" y="6876963"/>
            <a:ext cx="441456" cy="44145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22" id="22"/>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980198" y="2145972"/>
            <a:ext cx="12327604" cy="1974851"/>
          </a:xfrm>
          <a:prstGeom prst="rect">
            <a:avLst/>
          </a:prstGeom>
        </p:spPr>
        <p:txBody>
          <a:bodyPr anchor="t" rtlCol="false" tIns="0" lIns="0" bIns="0" rIns="0">
            <a:spAutoFit/>
          </a:bodyPr>
          <a:lstStyle/>
          <a:p>
            <a:pPr algn="ctr">
              <a:lnSpc>
                <a:spcPts val="16099"/>
              </a:lnSpc>
              <a:spcBef>
                <a:spcPct val="0"/>
              </a:spcBef>
            </a:pPr>
            <a:r>
              <a:rPr lang="en-US" sz="11499">
                <a:solidFill>
                  <a:srgbClr val="5A739E"/>
                </a:solidFill>
                <a:latin typeface="Bernoru"/>
                <a:ea typeface="Bernoru"/>
                <a:cs typeface="Bernoru"/>
                <a:sym typeface="Bernoru"/>
              </a:rPr>
              <a:t>HEALTHCARE</a:t>
            </a:r>
          </a:p>
        </p:txBody>
      </p:sp>
      <p:sp>
        <p:nvSpPr>
          <p:cNvPr name="TextBox 24" id="24"/>
          <p:cNvSpPr txBox="true"/>
          <p:nvPr/>
        </p:nvSpPr>
        <p:spPr>
          <a:xfrm rot="0">
            <a:off x="4760329" y="7603221"/>
            <a:ext cx="3502972" cy="606425"/>
          </a:xfrm>
          <a:prstGeom prst="rect">
            <a:avLst/>
          </a:prstGeom>
        </p:spPr>
        <p:txBody>
          <a:bodyPr anchor="t" rtlCol="false" tIns="0" lIns="0" bIns="0" rIns="0">
            <a:spAutoFit/>
          </a:bodyPr>
          <a:lstStyle/>
          <a:p>
            <a:pPr algn="l">
              <a:lnSpc>
                <a:spcPts val="4899"/>
              </a:lnSpc>
              <a:spcBef>
                <a:spcPct val="0"/>
              </a:spcBef>
            </a:pPr>
            <a:r>
              <a:rPr lang="en-US" sz="3499">
                <a:solidFill>
                  <a:srgbClr val="5A739E"/>
                </a:solidFill>
                <a:latin typeface="Bernoru"/>
                <a:ea typeface="Bernoru"/>
                <a:cs typeface="Bernoru"/>
                <a:sym typeface="Bernoru"/>
              </a:rPr>
              <a:t>PROJECT BY:</a:t>
            </a:r>
          </a:p>
        </p:txBody>
      </p:sp>
      <p:sp>
        <p:nvSpPr>
          <p:cNvPr name="TextBox 25" id="25"/>
          <p:cNvSpPr txBox="true"/>
          <p:nvPr/>
        </p:nvSpPr>
        <p:spPr>
          <a:xfrm rot="0">
            <a:off x="3709350" y="4208813"/>
            <a:ext cx="10309082" cy="2590165"/>
          </a:xfrm>
          <a:prstGeom prst="rect">
            <a:avLst/>
          </a:prstGeom>
        </p:spPr>
        <p:txBody>
          <a:bodyPr anchor="t" rtlCol="false" tIns="0" lIns="0" bIns="0" rIns="0">
            <a:spAutoFit/>
          </a:bodyPr>
          <a:lstStyle/>
          <a:p>
            <a:pPr algn="ctr">
              <a:lnSpc>
                <a:spcPts val="10429"/>
              </a:lnSpc>
            </a:pPr>
            <a:r>
              <a:rPr lang="en-US" sz="6999" spc="524">
                <a:solidFill>
                  <a:srgbClr val="6B87AF"/>
                </a:solidFill>
                <a:latin typeface="Alata"/>
                <a:ea typeface="Alata"/>
                <a:cs typeface="Alata"/>
                <a:sym typeface="Alata"/>
              </a:rPr>
              <a:t>HEART DISEASE PREDICTION PROJECT</a:t>
            </a:r>
          </a:p>
        </p:txBody>
      </p:sp>
      <p:sp>
        <p:nvSpPr>
          <p:cNvPr name="TextBox 26" id="26"/>
          <p:cNvSpPr txBox="true"/>
          <p:nvPr/>
        </p:nvSpPr>
        <p:spPr>
          <a:xfrm rot="0">
            <a:off x="8228199" y="7612746"/>
            <a:ext cx="5299472" cy="596900"/>
          </a:xfrm>
          <a:prstGeom prst="rect">
            <a:avLst/>
          </a:prstGeom>
        </p:spPr>
        <p:txBody>
          <a:bodyPr anchor="t" rtlCol="false" tIns="0" lIns="0" bIns="0" rIns="0">
            <a:spAutoFit/>
          </a:bodyPr>
          <a:lstStyle/>
          <a:p>
            <a:pPr algn="l">
              <a:lnSpc>
                <a:spcPts val="4899"/>
              </a:lnSpc>
            </a:pPr>
            <a:r>
              <a:rPr lang="en-US" sz="3499">
                <a:solidFill>
                  <a:srgbClr val="6B87AF"/>
                </a:solidFill>
                <a:latin typeface="Alata"/>
                <a:ea typeface="Alata"/>
                <a:cs typeface="Alata"/>
                <a:sym typeface="Alata"/>
              </a:rPr>
              <a:t>FIDES ANGELENE MANALO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TextBox 2" id="2"/>
          <p:cNvSpPr txBox="true"/>
          <p:nvPr/>
        </p:nvSpPr>
        <p:spPr>
          <a:xfrm rot="0">
            <a:off x="1295816" y="876300"/>
            <a:ext cx="10869299" cy="1212850"/>
          </a:xfrm>
          <a:prstGeom prst="rect">
            <a:avLst/>
          </a:prstGeom>
        </p:spPr>
        <p:txBody>
          <a:bodyPr anchor="t" rtlCol="false" tIns="0" lIns="0" bIns="0" rIns="0">
            <a:spAutoFit/>
          </a:bodyPr>
          <a:lstStyle/>
          <a:p>
            <a:pPr algn="l">
              <a:lnSpc>
                <a:spcPts val="9800"/>
              </a:lnSpc>
              <a:spcBef>
                <a:spcPct val="0"/>
              </a:spcBef>
            </a:pPr>
            <a:r>
              <a:rPr lang="en-US" sz="7000">
                <a:solidFill>
                  <a:srgbClr val="5A739E"/>
                </a:solidFill>
                <a:latin typeface="Bernoru"/>
                <a:ea typeface="Bernoru"/>
                <a:cs typeface="Bernoru"/>
                <a:sym typeface="Bernoru"/>
              </a:rPr>
              <a:t>OBJECTIVE</a:t>
            </a:r>
          </a:p>
        </p:txBody>
      </p:sp>
      <p:sp>
        <p:nvSpPr>
          <p:cNvPr name="AutoShape 3" id="3"/>
          <p:cNvSpPr/>
          <p:nvPr/>
        </p:nvSpPr>
        <p:spPr>
          <a:xfrm flipV="true">
            <a:off x="1295816" y="2490444"/>
            <a:ext cx="10399669" cy="0"/>
          </a:xfrm>
          <a:prstGeom prst="line">
            <a:avLst/>
          </a:prstGeom>
          <a:ln cap="flat" w="38100">
            <a:solidFill>
              <a:srgbClr val="BFD8EF"/>
            </a:solidFill>
            <a:prstDash val="solid"/>
            <a:headEnd type="none" len="sm" w="sm"/>
            <a:tailEnd type="none" len="sm" w="sm"/>
          </a:ln>
        </p:spPr>
      </p:sp>
      <p:grpSp>
        <p:nvGrpSpPr>
          <p:cNvPr name="Group 4" id="4"/>
          <p:cNvGrpSpPr/>
          <p:nvPr/>
        </p:nvGrpSpPr>
        <p:grpSpPr>
          <a:xfrm rot="0">
            <a:off x="15686454" y="1977728"/>
            <a:ext cx="493666" cy="49366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6" id="6"/>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8650334" y="5549042"/>
            <a:ext cx="493666" cy="49366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9" id="9"/>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266147" y="3298441"/>
            <a:ext cx="493666" cy="49366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2" id="12"/>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3814372" y="9793334"/>
            <a:ext cx="493666" cy="4936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5" id="1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16760885" y="8785594"/>
            <a:ext cx="493666" cy="4936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8" id="18"/>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9" id="19"/>
          <p:cNvSpPr/>
          <p:nvPr/>
        </p:nvSpPr>
        <p:spPr>
          <a:xfrm flipH="false" flipV="false" rot="-2430051">
            <a:off x="12473221" y="592675"/>
            <a:ext cx="527379" cy="1143370"/>
          </a:xfrm>
          <a:custGeom>
            <a:avLst/>
            <a:gdLst/>
            <a:ahLst/>
            <a:cxnLst/>
            <a:rect r="r" b="b" t="t" l="l"/>
            <a:pathLst>
              <a:path h="1143370" w="527379">
                <a:moveTo>
                  <a:pt x="0" y="0"/>
                </a:moveTo>
                <a:lnTo>
                  <a:pt x="527379" y="0"/>
                </a:lnTo>
                <a:lnTo>
                  <a:pt x="527379"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0" id="20"/>
          <p:cNvSpPr/>
          <p:nvPr/>
        </p:nvSpPr>
        <p:spPr>
          <a:xfrm flipH="false" flipV="false" rot="-4384760">
            <a:off x="11277743" y="9468482"/>
            <a:ext cx="527379" cy="1143370"/>
          </a:xfrm>
          <a:custGeom>
            <a:avLst/>
            <a:gdLst/>
            <a:ahLst/>
            <a:cxnLst/>
            <a:rect r="r" b="b" t="t" l="l"/>
            <a:pathLst>
              <a:path h="1143370" w="527379">
                <a:moveTo>
                  <a:pt x="0" y="0"/>
                </a:moveTo>
                <a:lnTo>
                  <a:pt x="527380" y="0"/>
                </a:lnTo>
                <a:lnTo>
                  <a:pt x="527380"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1" id="21"/>
          <p:cNvSpPr/>
          <p:nvPr/>
        </p:nvSpPr>
        <p:spPr>
          <a:xfrm flipH="false" flipV="false" rot="4626862">
            <a:off x="97845" y="5608728"/>
            <a:ext cx="527379" cy="1143370"/>
          </a:xfrm>
          <a:custGeom>
            <a:avLst/>
            <a:gdLst/>
            <a:ahLst/>
            <a:cxnLst/>
            <a:rect r="r" b="b" t="t" l="l"/>
            <a:pathLst>
              <a:path h="1143370" w="527379">
                <a:moveTo>
                  <a:pt x="0" y="0"/>
                </a:moveTo>
                <a:lnTo>
                  <a:pt x="527379" y="0"/>
                </a:lnTo>
                <a:lnTo>
                  <a:pt x="527379"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2" id="22"/>
          <p:cNvSpPr/>
          <p:nvPr/>
        </p:nvSpPr>
        <p:spPr>
          <a:xfrm flipH="false" flipV="false" rot="-6812936">
            <a:off x="17373456" y="5041951"/>
            <a:ext cx="527379" cy="1143370"/>
          </a:xfrm>
          <a:custGeom>
            <a:avLst/>
            <a:gdLst/>
            <a:ahLst/>
            <a:cxnLst/>
            <a:rect r="r" b="b" t="t" l="l"/>
            <a:pathLst>
              <a:path h="1143370" w="527379">
                <a:moveTo>
                  <a:pt x="0" y="0"/>
                </a:moveTo>
                <a:lnTo>
                  <a:pt x="527379" y="0"/>
                </a:lnTo>
                <a:lnTo>
                  <a:pt x="527379"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8373435">
            <a:off x="16940633" y="-189660"/>
            <a:ext cx="527379" cy="1143370"/>
          </a:xfrm>
          <a:custGeom>
            <a:avLst/>
            <a:gdLst/>
            <a:ahLst/>
            <a:cxnLst/>
            <a:rect r="r" b="b" t="t" l="l"/>
            <a:pathLst>
              <a:path h="1143370" w="527379">
                <a:moveTo>
                  <a:pt x="0" y="0"/>
                </a:moveTo>
                <a:lnTo>
                  <a:pt x="527379" y="0"/>
                </a:lnTo>
                <a:lnTo>
                  <a:pt x="527379"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4" id="24"/>
          <p:cNvSpPr/>
          <p:nvPr/>
        </p:nvSpPr>
        <p:spPr>
          <a:xfrm flipH="false" flipV="false" rot="1814381">
            <a:off x="765010" y="9247002"/>
            <a:ext cx="527379" cy="1143370"/>
          </a:xfrm>
          <a:custGeom>
            <a:avLst/>
            <a:gdLst/>
            <a:ahLst/>
            <a:cxnLst/>
            <a:rect r="r" b="b" t="t" l="l"/>
            <a:pathLst>
              <a:path h="1143370" w="527379">
                <a:moveTo>
                  <a:pt x="0" y="0"/>
                </a:moveTo>
                <a:lnTo>
                  <a:pt x="527380" y="0"/>
                </a:lnTo>
                <a:lnTo>
                  <a:pt x="527380"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5" id="25"/>
          <p:cNvSpPr/>
          <p:nvPr/>
        </p:nvSpPr>
        <p:spPr>
          <a:xfrm flipH="false" flipV="false" rot="-1131811">
            <a:off x="-83887" y="-33561"/>
            <a:ext cx="527379" cy="1143370"/>
          </a:xfrm>
          <a:custGeom>
            <a:avLst/>
            <a:gdLst/>
            <a:ahLst/>
            <a:cxnLst/>
            <a:rect r="r" b="b" t="t" l="l"/>
            <a:pathLst>
              <a:path h="1143370" w="527379">
                <a:moveTo>
                  <a:pt x="0" y="0"/>
                </a:moveTo>
                <a:lnTo>
                  <a:pt x="527380" y="0"/>
                </a:lnTo>
                <a:lnTo>
                  <a:pt x="527380"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26" id="26"/>
          <p:cNvSpPr txBox="true"/>
          <p:nvPr/>
        </p:nvSpPr>
        <p:spPr>
          <a:xfrm rot="0">
            <a:off x="3502120" y="3283066"/>
            <a:ext cx="11209317" cy="2059306"/>
          </a:xfrm>
          <a:prstGeom prst="rect">
            <a:avLst/>
          </a:prstGeom>
        </p:spPr>
        <p:txBody>
          <a:bodyPr anchor="t" rtlCol="false" tIns="0" lIns="0" bIns="0" rIns="0">
            <a:spAutoFit/>
          </a:bodyPr>
          <a:lstStyle/>
          <a:p>
            <a:pPr algn="l">
              <a:lnSpc>
                <a:spcPts val="5609"/>
              </a:lnSpc>
            </a:pPr>
            <a:r>
              <a:rPr lang="en-US" sz="2999">
                <a:solidFill>
                  <a:srgbClr val="6B87AF"/>
                </a:solidFill>
                <a:latin typeface="Alata"/>
                <a:ea typeface="Alata"/>
                <a:cs typeface="Alata"/>
                <a:sym typeface="Alata"/>
              </a:rPr>
              <a:t>This project aims to build a machine learning model to predict the presence of heart disease based on various demographic, clinical, and lifestyle-related features. </a:t>
            </a:r>
          </a:p>
        </p:txBody>
      </p:sp>
      <p:sp>
        <p:nvSpPr>
          <p:cNvPr name="TextBox 27" id="27"/>
          <p:cNvSpPr txBox="true"/>
          <p:nvPr/>
        </p:nvSpPr>
        <p:spPr>
          <a:xfrm rot="0">
            <a:off x="3502120" y="6987521"/>
            <a:ext cx="11209317" cy="1354456"/>
          </a:xfrm>
          <a:prstGeom prst="rect">
            <a:avLst/>
          </a:prstGeom>
        </p:spPr>
        <p:txBody>
          <a:bodyPr anchor="t" rtlCol="false" tIns="0" lIns="0" bIns="0" rIns="0">
            <a:spAutoFit/>
          </a:bodyPr>
          <a:lstStyle/>
          <a:p>
            <a:pPr algn="l">
              <a:lnSpc>
                <a:spcPts val="5609"/>
              </a:lnSpc>
            </a:pPr>
            <a:r>
              <a:rPr lang="en-US" sz="2999">
                <a:solidFill>
                  <a:srgbClr val="6B87AF"/>
                </a:solidFill>
                <a:latin typeface="Alata"/>
                <a:ea typeface="Alata"/>
                <a:cs typeface="Alata"/>
                <a:sym typeface="Alata"/>
              </a:rPr>
              <a:t>It integrates data science methodologies to enable early detection and improve health outcomes through preventive care.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AutoShape 2" id="2"/>
          <p:cNvSpPr/>
          <p:nvPr/>
        </p:nvSpPr>
        <p:spPr>
          <a:xfrm>
            <a:off x="718690" y="6725347"/>
            <a:ext cx="8963834" cy="0"/>
          </a:xfrm>
          <a:prstGeom prst="line">
            <a:avLst/>
          </a:prstGeom>
          <a:ln cap="flat" w="38100">
            <a:solidFill>
              <a:srgbClr val="BFD8EF"/>
            </a:solidFill>
            <a:prstDash val="solid"/>
            <a:headEnd type="none" len="sm" w="sm"/>
            <a:tailEnd type="none" len="sm" w="sm"/>
          </a:ln>
        </p:spPr>
      </p:sp>
      <p:grpSp>
        <p:nvGrpSpPr>
          <p:cNvPr name="Group 3" id="3"/>
          <p:cNvGrpSpPr/>
          <p:nvPr/>
        </p:nvGrpSpPr>
        <p:grpSpPr>
          <a:xfrm rot="0">
            <a:off x="16296003" y="1028700"/>
            <a:ext cx="493666" cy="4936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5744691" y="9063712"/>
            <a:ext cx="493666" cy="4936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6296003" y="8764634"/>
            <a:ext cx="493666" cy="4936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1" id="11"/>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6661305" y="835500"/>
            <a:ext cx="493666" cy="49366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5" id="15"/>
          <p:cNvSpPr/>
          <p:nvPr/>
        </p:nvSpPr>
        <p:spPr>
          <a:xfrm flipH="false" flipV="false" rot="0">
            <a:off x="584207" y="1082334"/>
            <a:ext cx="888986" cy="725635"/>
          </a:xfrm>
          <a:custGeom>
            <a:avLst/>
            <a:gdLst/>
            <a:ahLst/>
            <a:cxnLst/>
            <a:rect r="r" b="b" t="t" l="l"/>
            <a:pathLst>
              <a:path h="725635" w="888986">
                <a:moveTo>
                  <a:pt x="0" y="0"/>
                </a:moveTo>
                <a:lnTo>
                  <a:pt x="888986" y="0"/>
                </a:lnTo>
                <a:lnTo>
                  <a:pt x="888986" y="725635"/>
                </a:lnTo>
                <a:lnTo>
                  <a:pt x="0" y="725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5863956">
            <a:off x="10969611" y="912716"/>
            <a:ext cx="888986" cy="725635"/>
          </a:xfrm>
          <a:custGeom>
            <a:avLst/>
            <a:gdLst/>
            <a:ahLst/>
            <a:cxnLst/>
            <a:rect r="r" b="b" t="t" l="l"/>
            <a:pathLst>
              <a:path h="725635" w="888986">
                <a:moveTo>
                  <a:pt x="0" y="0"/>
                </a:moveTo>
                <a:lnTo>
                  <a:pt x="888986" y="0"/>
                </a:lnTo>
                <a:lnTo>
                  <a:pt x="888986" y="725635"/>
                </a:lnTo>
                <a:lnTo>
                  <a:pt x="0" y="725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1028700" y="3894689"/>
            <a:ext cx="8343814" cy="2451100"/>
          </a:xfrm>
          <a:prstGeom prst="rect">
            <a:avLst/>
          </a:prstGeom>
        </p:spPr>
        <p:txBody>
          <a:bodyPr anchor="t" rtlCol="false" tIns="0" lIns="0" bIns="0" rIns="0">
            <a:spAutoFit/>
          </a:bodyPr>
          <a:lstStyle/>
          <a:p>
            <a:pPr algn="l">
              <a:lnSpc>
                <a:spcPts val="9800"/>
              </a:lnSpc>
              <a:spcBef>
                <a:spcPct val="0"/>
              </a:spcBef>
            </a:pPr>
            <a:r>
              <a:rPr lang="en-US" sz="7000">
                <a:solidFill>
                  <a:srgbClr val="5A739E"/>
                </a:solidFill>
                <a:latin typeface="Bernoru"/>
                <a:ea typeface="Bernoru"/>
                <a:cs typeface="Bernoru"/>
                <a:sym typeface="Bernoru"/>
              </a:rPr>
              <a:t>DATA INFORMATION</a:t>
            </a:r>
          </a:p>
        </p:txBody>
      </p:sp>
      <p:sp>
        <p:nvSpPr>
          <p:cNvPr name="TextBox 18" id="18"/>
          <p:cNvSpPr txBox="true"/>
          <p:nvPr/>
        </p:nvSpPr>
        <p:spPr>
          <a:xfrm rot="0">
            <a:off x="10740147" y="2388235"/>
            <a:ext cx="6264521" cy="5443855"/>
          </a:xfrm>
          <a:prstGeom prst="rect">
            <a:avLst/>
          </a:prstGeom>
        </p:spPr>
        <p:txBody>
          <a:bodyPr anchor="t" rtlCol="false" tIns="0" lIns="0" bIns="0" rIns="0">
            <a:spAutoFit/>
          </a:bodyPr>
          <a:lstStyle/>
          <a:p>
            <a:pPr algn="l">
              <a:lnSpc>
                <a:spcPts val="3919"/>
              </a:lnSpc>
            </a:pPr>
            <a:r>
              <a:rPr lang="en-US" sz="2799">
                <a:solidFill>
                  <a:srgbClr val="6B87AF"/>
                </a:solidFill>
                <a:latin typeface="Alata"/>
                <a:ea typeface="Alata"/>
                <a:cs typeface="Alata"/>
                <a:sym typeface="Alata"/>
              </a:rPr>
              <a:t>The dataset contains anonymized patient data, including </a:t>
            </a:r>
          </a:p>
          <a:p>
            <a:pPr algn="l" marL="604518" indent="-302259" lvl="1">
              <a:lnSpc>
                <a:spcPts val="3919"/>
              </a:lnSpc>
              <a:buFont typeface="Arial"/>
              <a:buChar char="•"/>
            </a:pPr>
            <a:r>
              <a:rPr lang="en-US" sz="2799">
                <a:solidFill>
                  <a:srgbClr val="6B87AF"/>
                </a:solidFill>
                <a:latin typeface="Alata"/>
                <a:ea typeface="Alata"/>
                <a:cs typeface="Alata"/>
                <a:sym typeface="Alata"/>
              </a:rPr>
              <a:t>demographic (age, gender), </a:t>
            </a:r>
          </a:p>
          <a:p>
            <a:pPr algn="l" marL="604518" indent="-302259" lvl="1">
              <a:lnSpc>
                <a:spcPts val="3919"/>
              </a:lnSpc>
              <a:buFont typeface="Arial"/>
              <a:buChar char="•"/>
            </a:pPr>
            <a:r>
              <a:rPr lang="en-US" sz="2799">
                <a:solidFill>
                  <a:srgbClr val="6B87AF"/>
                </a:solidFill>
                <a:latin typeface="Alata"/>
                <a:ea typeface="Alata"/>
                <a:cs typeface="Alata"/>
                <a:sym typeface="Alata"/>
              </a:rPr>
              <a:t>clinical (blood pressure, glucose, cholesterol), </a:t>
            </a:r>
          </a:p>
          <a:p>
            <a:pPr algn="l" marL="604518" indent="-302259" lvl="1">
              <a:lnSpc>
                <a:spcPts val="3919"/>
              </a:lnSpc>
              <a:buFont typeface="Arial"/>
              <a:buChar char="•"/>
            </a:pPr>
            <a:r>
              <a:rPr lang="en-US" sz="2799">
                <a:solidFill>
                  <a:srgbClr val="6B87AF"/>
                </a:solidFill>
                <a:latin typeface="Alata"/>
                <a:ea typeface="Alata"/>
                <a:cs typeface="Alata"/>
                <a:sym typeface="Alata"/>
              </a:rPr>
              <a:t>and lifestyle (smoking, alcohol use) features. </a:t>
            </a:r>
          </a:p>
          <a:p>
            <a:pPr algn="l">
              <a:lnSpc>
                <a:spcPts val="3919"/>
              </a:lnSpc>
            </a:pPr>
          </a:p>
          <a:p>
            <a:pPr algn="l">
              <a:lnSpc>
                <a:spcPts val="3919"/>
              </a:lnSpc>
            </a:pPr>
            <a:r>
              <a:rPr lang="en-US" sz="2799">
                <a:solidFill>
                  <a:srgbClr val="6B87AF"/>
                </a:solidFill>
                <a:latin typeface="Alata"/>
                <a:ea typeface="Alata"/>
                <a:cs typeface="Alata"/>
                <a:sym typeface="Alata"/>
              </a:rPr>
              <a:t>The target variable is 'disease', indicating the presence (1) or absence (0) of heart disease.</a:t>
            </a:r>
          </a:p>
        </p:txBody>
      </p:sp>
      <p:sp>
        <p:nvSpPr>
          <p:cNvPr name="Freeform 19" id="19"/>
          <p:cNvSpPr/>
          <p:nvPr/>
        </p:nvSpPr>
        <p:spPr>
          <a:xfrm flipH="false" flipV="false" rot="-2430051">
            <a:off x="10159294" y="9097990"/>
            <a:ext cx="527379" cy="1143370"/>
          </a:xfrm>
          <a:custGeom>
            <a:avLst/>
            <a:gdLst/>
            <a:ahLst/>
            <a:cxnLst/>
            <a:rect r="r" b="b" t="t" l="l"/>
            <a:pathLst>
              <a:path h="1143370" w="527379">
                <a:moveTo>
                  <a:pt x="0" y="0"/>
                </a:moveTo>
                <a:lnTo>
                  <a:pt x="527380" y="0"/>
                </a:lnTo>
                <a:lnTo>
                  <a:pt x="527380" y="1143370"/>
                </a:lnTo>
                <a:lnTo>
                  <a:pt x="0" y="11433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0" id="20"/>
          <p:cNvSpPr/>
          <p:nvPr/>
        </p:nvSpPr>
        <p:spPr>
          <a:xfrm flipH="false" flipV="false" rot="-10594664">
            <a:off x="17726965" y="5013214"/>
            <a:ext cx="527379" cy="1143370"/>
          </a:xfrm>
          <a:custGeom>
            <a:avLst/>
            <a:gdLst/>
            <a:ahLst/>
            <a:cxnLst/>
            <a:rect r="r" b="b" t="t" l="l"/>
            <a:pathLst>
              <a:path h="1143370" w="527379">
                <a:moveTo>
                  <a:pt x="0" y="0"/>
                </a:moveTo>
                <a:lnTo>
                  <a:pt x="527379" y="0"/>
                </a:lnTo>
                <a:lnTo>
                  <a:pt x="527379" y="1143370"/>
                </a:lnTo>
                <a:lnTo>
                  <a:pt x="0" y="11433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AutoShape 2" id="2"/>
          <p:cNvSpPr/>
          <p:nvPr/>
        </p:nvSpPr>
        <p:spPr>
          <a:xfrm flipV="true">
            <a:off x="3619570" y="3919247"/>
            <a:ext cx="11048861" cy="0"/>
          </a:xfrm>
          <a:prstGeom prst="line">
            <a:avLst/>
          </a:prstGeom>
          <a:ln cap="flat" w="38100">
            <a:solidFill>
              <a:srgbClr val="BFD8EF"/>
            </a:solidFill>
            <a:prstDash val="solid"/>
            <a:headEnd type="none" len="sm" w="sm"/>
            <a:tailEnd type="none" len="sm" w="sm"/>
          </a:ln>
        </p:spPr>
      </p:sp>
      <p:grpSp>
        <p:nvGrpSpPr>
          <p:cNvPr name="Group 3" id="3"/>
          <p:cNvGrpSpPr/>
          <p:nvPr/>
        </p:nvGrpSpPr>
        <p:grpSpPr>
          <a:xfrm rot="0">
            <a:off x="1769199" y="8903869"/>
            <a:ext cx="493666" cy="4936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6186800" y="1028700"/>
            <a:ext cx="493666" cy="4936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6528646" y="781867"/>
            <a:ext cx="493666" cy="4936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1" id="11"/>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275533" y="2963934"/>
            <a:ext cx="493666" cy="49366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5" id="15"/>
          <p:cNvGrpSpPr/>
          <p:nvPr/>
        </p:nvGrpSpPr>
        <p:grpSpPr>
          <a:xfrm rot="0">
            <a:off x="17053652" y="6761477"/>
            <a:ext cx="411295" cy="41129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7" id="17"/>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8" id="18"/>
          <p:cNvGrpSpPr/>
          <p:nvPr/>
        </p:nvGrpSpPr>
        <p:grpSpPr>
          <a:xfrm rot="0">
            <a:off x="11939093" y="9258300"/>
            <a:ext cx="411295" cy="41129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20" id="20"/>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1" id="21"/>
          <p:cNvSpPr/>
          <p:nvPr/>
        </p:nvSpPr>
        <p:spPr>
          <a:xfrm flipH="false" flipV="false" rot="1672556">
            <a:off x="6758622" y="9416030"/>
            <a:ext cx="527379" cy="1143370"/>
          </a:xfrm>
          <a:custGeom>
            <a:avLst/>
            <a:gdLst/>
            <a:ahLst/>
            <a:cxnLst/>
            <a:rect r="r" b="b" t="t" l="l"/>
            <a:pathLst>
              <a:path h="1143370" w="527379">
                <a:moveTo>
                  <a:pt x="0" y="0"/>
                </a:moveTo>
                <a:lnTo>
                  <a:pt x="527380" y="0"/>
                </a:lnTo>
                <a:lnTo>
                  <a:pt x="527380"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2" id="22"/>
          <p:cNvSpPr/>
          <p:nvPr/>
        </p:nvSpPr>
        <p:spPr>
          <a:xfrm flipH="false" flipV="false" rot="-2430051">
            <a:off x="-30483" y="6120390"/>
            <a:ext cx="527379" cy="1143370"/>
          </a:xfrm>
          <a:custGeom>
            <a:avLst/>
            <a:gdLst/>
            <a:ahLst/>
            <a:cxnLst/>
            <a:rect r="r" b="b" t="t" l="l"/>
            <a:pathLst>
              <a:path h="1143370" w="527379">
                <a:moveTo>
                  <a:pt x="0" y="0"/>
                </a:moveTo>
                <a:lnTo>
                  <a:pt x="527379" y="0"/>
                </a:lnTo>
                <a:lnTo>
                  <a:pt x="527379"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3004146">
            <a:off x="17567405" y="3548754"/>
            <a:ext cx="527379" cy="1143370"/>
          </a:xfrm>
          <a:custGeom>
            <a:avLst/>
            <a:gdLst/>
            <a:ahLst/>
            <a:cxnLst/>
            <a:rect r="r" b="b" t="t" l="l"/>
            <a:pathLst>
              <a:path h="1143370" w="527379">
                <a:moveTo>
                  <a:pt x="0" y="0"/>
                </a:moveTo>
                <a:lnTo>
                  <a:pt x="527380" y="0"/>
                </a:lnTo>
                <a:lnTo>
                  <a:pt x="527380"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4" id="24"/>
          <p:cNvSpPr/>
          <p:nvPr/>
        </p:nvSpPr>
        <p:spPr>
          <a:xfrm flipH="false" flipV="false" rot="3004146">
            <a:off x="1505510" y="134702"/>
            <a:ext cx="527379" cy="1143370"/>
          </a:xfrm>
          <a:custGeom>
            <a:avLst/>
            <a:gdLst/>
            <a:ahLst/>
            <a:cxnLst/>
            <a:rect r="r" b="b" t="t" l="l"/>
            <a:pathLst>
              <a:path h="1143370" w="527379">
                <a:moveTo>
                  <a:pt x="0" y="0"/>
                </a:moveTo>
                <a:lnTo>
                  <a:pt x="527379" y="0"/>
                </a:lnTo>
                <a:lnTo>
                  <a:pt x="527379"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5" id="25"/>
          <p:cNvSpPr/>
          <p:nvPr/>
        </p:nvSpPr>
        <p:spPr>
          <a:xfrm flipH="false" flipV="false" rot="-2186946">
            <a:off x="12086698" y="-159500"/>
            <a:ext cx="527379" cy="1143370"/>
          </a:xfrm>
          <a:custGeom>
            <a:avLst/>
            <a:gdLst/>
            <a:ahLst/>
            <a:cxnLst/>
            <a:rect r="r" b="b" t="t" l="l"/>
            <a:pathLst>
              <a:path h="1143370" w="527379">
                <a:moveTo>
                  <a:pt x="0" y="0"/>
                </a:moveTo>
                <a:lnTo>
                  <a:pt x="527380" y="0"/>
                </a:lnTo>
                <a:lnTo>
                  <a:pt x="527380"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6" id="26"/>
          <p:cNvSpPr/>
          <p:nvPr/>
        </p:nvSpPr>
        <p:spPr>
          <a:xfrm flipH="false" flipV="false" rot="-1639537">
            <a:off x="16169943" y="9315553"/>
            <a:ext cx="527379" cy="1143370"/>
          </a:xfrm>
          <a:custGeom>
            <a:avLst/>
            <a:gdLst/>
            <a:ahLst/>
            <a:cxnLst/>
            <a:rect r="r" b="b" t="t" l="l"/>
            <a:pathLst>
              <a:path h="1143370" w="527379">
                <a:moveTo>
                  <a:pt x="0" y="0"/>
                </a:moveTo>
                <a:lnTo>
                  <a:pt x="527380" y="0"/>
                </a:lnTo>
                <a:lnTo>
                  <a:pt x="527380" y="1143370"/>
                </a:lnTo>
                <a:lnTo>
                  <a:pt x="0" y="1143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27" id="27"/>
          <p:cNvGrpSpPr/>
          <p:nvPr/>
        </p:nvGrpSpPr>
        <p:grpSpPr>
          <a:xfrm rot="0">
            <a:off x="4847966" y="4865995"/>
            <a:ext cx="566661" cy="566661"/>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A739E"/>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3973697" y="1286115"/>
            <a:ext cx="10340607" cy="2451100"/>
          </a:xfrm>
          <a:prstGeom prst="rect">
            <a:avLst/>
          </a:prstGeom>
        </p:spPr>
        <p:txBody>
          <a:bodyPr anchor="t" rtlCol="false" tIns="0" lIns="0" bIns="0" rIns="0">
            <a:spAutoFit/>
          </a:bodyPr>
          <a:lstStyle/>
          <a:p>
            <a:pPr algn="ctr">
              <a:lnSpc>
                <a:spcPts val="9800"/>
              </a:lnSpc>
              <a:spcBef>
                <a:spcPct val="0"/>
              </a:spcBef>
            </a:pPr>
            <a:r>
              <a:rPr lang="en-US" sz="7000">
                <a:solidFill>
                  <a:srgbClr val="5A739E"/>
                </a:solidFill>
                <a:latin typeface="Bernoru"/>
                <a:ea typeface="Bernoru"/>
                <a:cs typeface="Bernoru"/>
                <a:sym typeface="Bernoru"/>
              </a:rPr>
              <a:t>DATA PREPARATION &amp; CLEANING</a:t>
            </a:r>
          </a:p>
        </p:txBody>
      </p:sp>
      <p:sp>
        <p:nvSpPr>
          <p:cNvPr name="TextBox 31" id="31"/>
          <p:cNvSpPr txBox="true"/>
          <p:nvPr/>
        </p:nvSpPr>
        <p:spPr>
          <a:xfrm rot="0">
            <a:off x="6253493" y="4622910"/>
            <a:ext cx="8369981" cy="986155"/>
          </a:xfrm>
          <a:prstGeom prst="rect">
            <a:avLst/>
          </a:prstGeom>
        </p:spPr>
        <p:txBody>
          <a:bodyPr anchor="t" rtlCol="false" tIns="0" lIns="0" bIns="0" rIns="0">
            <a:spAutoFit/>
          </a:bodyPr>
          <a:lstStyle/>
          <a:p>
            <a:pPr algn="l">
              <a:lnSpc>
                <a:spcPts val="3919"/>
              </a:lnSpc>
            </a:pPr>
            <a:r>
              <a:rPr lang="en-US" sz="2799">
                <a:solidFill>
                  <a:srgbClr val="6B87AF"/>
                </a:solidFill>
                <a:latin typeface="Alata"/>
                <a:ea typeface="Alata"/>
                <a:cs typeface="Alata"/>
                <a:sym typeface="Alata"/>
              </a:rPr>
              <a:t>Check if the data had any missing values or duplicates - none were found.</a:t>
            </a:r>
          </a:p>
        </p:txBody>
      </p:sp>
      <p:sp>
        <p:nvSpPr>
          <p:cNvPr name="TextBox 32" id="32"/>
          <p:cNvSpPr txBox="true"/>
          <p:nvPr/>
        </p:nvSpPr>
        <p:spPr>
          <a:xfrm rot="0">
            <a:off x="6253493" y="6398706"/>
            <a:ext cx="8369981" cy="1481455"/>
          </a:xfrm>
          <a:prstGeom prst="rect">
            <a:avLst/>
          </a:prstGeom>
        </p:spPr>
        <p:txBody>
          <a:bodyPr anchor="t" rtlCol="false" tIns="0" lIns="0" bIns="0" rIns="0">
            <a:spAutoFit/>
          </a:bodyPr>
          <a:lstStyle/>
          <a:p>
            <a:pPr algn="l">
              <a:lnSpc>
                <a:spcPts val="3919"/>
              </a:lnSpc>
            </a:pPr>
            <a:r>
              <a:rPr lang="en-US" sz="2799">
                <a:solidFill>
                  <a:srgbClr val="6B87AF"/>
                </a:solidFill>
                <a:latin typeface="Alata"/>
                <a:ea typeface="Alata"/>
                <a:cs typeface="Alata"/>
                <a:sym typeface="Alata"/>
              </a:rPr>
              <a:t>Non-informative columns such as 'id', 'country', and 'date' were dropped to improve model performance.</a:t>
            </a:r>
          </a:p>
        </p:txBody>
      </p:sp>
      <p:grpSp>
        <p:nvGrpSpPr>
          <p:cNvPr name="Group 33" id="33"/>
          <p:cNvGrpSpPr/>
          <p:nvPr/>
        </p:nvGrpSpPr>
        <p:grpSpPr>
          <a:xfrm rot="0">
            <a:off x="4847966" y="6889441"/>
            <a:ext cx="566661" cy="566661"/>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A739E"/>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AutoShape 2" id="2"/>
          <p:cNvSpPr/>
          <p:nvPr/>
        </p:nvSpPr>
        <p:spPr>
          <a:xfrm flipV="true">
            <a:off x="3619570" y="3408565"/>
            <a:ext cx="11048861" cy="0"/>
          </a:xfrm>
          <a:prstGeom prst="line">
            <a:avLst/>
          </a:prstGeom>
          <a:ln cap="flat" w="38100">
            <a:solidFill>
              <a:srgbClr val="BFD8EF"/>
            </a:solidFill>
            <a:prstDash val="solid"/>
            <a:headEnd type="none" len="sm" w="sm"/>
            <a:tailEnd type="none" len="sm" w="sm"/>
          </a:ln>
        </p:spPr>
      </p:sp>
      <p:grpSp>
        <p:nvGrpSpPr>
          <p:cNvPr name="Group 3" id="3"/>
          <p:cNvGrpSpPr/>
          <p:nvPr/>
        </p:nvGrpSpPr>
        <p:grpSpPr>
          <a:xfrm rot="0">
            <a:off x="6330014" y="3602061"/>
            <a:ext cx="5064229" cy="1218852"/>
            <a:chOff x="0" y="0"/>
            <a:chExt cx="1333789" cy="321014"/>
          </a:xfrm>
        </p:grpSpPr>
        <p:sp>
          <p:nvSpPr>
            <p:cNvPr name="Freeform 4" id="4"/>
            <p:cNvSpPr/>
            <p:nvPr/>
          </p:nvSpPr>
          <p:spPr>
            <a:xfrm flipH="false" flipV="false" rot="0">
              <a:off x="0" y="0"/>
              <a:ext cx="1333789" cy="321014"/>
            </a:xfrm>
            <a:custGeom>
              <a:avLst/>
              <a:gdLst/>
              <a:ahLst/>
              <a:cxnLst/>
              <a:rect r="r" b="b" t="t" l="l"/>
              <a:pathLst>
                <a:path h="321014" w="1333789">
                  <a:moveTo>
                    <a:pt x="88667" y="0"/>
                  </a:moveTo>
                  <a:lnTo>
                    <a:pt x="1245121" y="0"/>
                  </a:lnTo>
                  <a:cubicBezTo>
                    <a:pt x="1268637" y="0"/>
                    <a:pt x="1291190" y="9342"/>
                    <a:pt x="1307819" y="25970"/>
                  </a:cubicBezTo>
                  <a:cubicBezTo>
                    <a:pt x="1324447" y="42598"/>
                    <a:pt x="1333789" y="65151"/>
                    <a:pt x="1333789" y="88667"/>
                  </a:cubicBezTo>
                  <a:lnTo>
                    <a:pt x="1333789" y="232347"/>
                  </a:lnTo>
                  <a:cubicBezTo>
                    <a:pt x="1333789" y="255863"/>
                    <a:pt x="1324447" y="278416"/>
                    <a:pt x="1307819" y="295044"/>
                  </a:cubicBezTo>
                  <a:cubicBezTo>
                    <a:pt x="1291190" y="311673"/>
                    <a:pt x="1268637" y="321014"/>
                    <a:pt x="1245121" y="321014"/>
                  </a:cubicBezTo>
                  <a:lnTo>
                    <a:pt x="88667" y="321014"/>
                  </a:lnTo>
                  <a:cubicBezTo>
                    <a:pt x="65151" y="321014"/>
                    <a:pt x="42598" y="311673"/>
                    <a:pt x="25970" y="295044"/>
                  </a:cubicBezTo>
                  <a:cubicBezTo>
                    <a:pt x="9342" y="278416"/>
                    <a:pt x="0" y="255863"/>
                    <a:pt x="0" y="232347"/>
                  </a:cubicBezTo>
                  <a:lnTo>
                    <a:pt x="0" y="88667"/>
                  </a:lnTo>
                  <a:cubicBezTo>
                    <a:pt x="0" y="65151"/>
                    <a:pt x="9342" y="42598"/>
                    <a:pt x="25970" y="25970"/>
                  </a:cubicBezTo>
                  <a:cubicBezTo>
                    <a:pt x="42598" y="9342"/>
                    <a:pt x="65151" y="0"/>
                    <a:pt x="88667" y="0"/>
                  </a:cubicBezTo>
                  <a:close/>
                </a:path>
              </a:pathLst>
            </a:custGeom>
            <a:solidFill>
              <a:srgbClr val="5A739E"/>
            </a:solidFill>
          </p:spPr>
        </p:sp>
        <p:sp>
          <p:nvSpPr>
            <p:cNvPr name="TextBox 5" id="5"/>
            <p:cNvSpPr txBox="true"/>
            <p:nvPr/>
          </p:nvSpPr>
          <p:spPr>
            <a:xfrm>
              <a:off x="0" y="-38100"/>
              <a:ext cx="1333789" cy="35911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871121">
            <a:off x="-148297" y="453447"/>
            <a:ext cx="1424375" cy="925844"/>
          </a:xfrm>
          <a:custGeom>
            <a:avLst/>
            <a:gdLst/>
            <a:ahLst/>
            <a:cxnLst/>
            <a:rect r="r" b="b" t="t" l="l"/>
            <a:pathLst>
              <a:path h="925844" w="1424375">
                <a:moveTo>
                  <a:pt x="0" y="0"/>
                </a:moveTo>
                <a:lnTo>
                  <a:pt x="1424375" y="0"/>
                </a:lnTo>
                <a:lnTo>
                  <a:pt x="1424375" y="925844"/>
                </a:lnTo>
                <a:lnTo>
                  <a:pt x="0" y="9258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142376">
            <a:off x="17259300" y="1235706"/>
            <a:ext cx="1424375" cy="925844"/>
          </a:xfrm>
          <a:custGeom>
            <a:avLst/>
            <a:gdLst/>
            <a:ahLst/>
            <a:cxnLst/>
            <a:rect r="r" b="b" t="t" l="l"/>
            <a:pathLst>
              <a:path h="925844" w="1424375">
                <a:moveTo>
                  <a:pt x="0" y="0"/>
                </a:moveTo>
                <a:lnTo>
                  <a:pt x="1424375" y="0"/>
                </a:lnTo>
                <a:lnTo>
                  <a:pt x="1424375" y="925844"/>
                </a:lnTo>
                <a:lnTo>
                  <a:pt x="0" y="9258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302918">
            <a:off x="16630510" y="5315257"/>
            <a:ext cx="2190180" cy="5961301"/>
          </a:xfrm>
          <a:custGeom>
            <a:avLst/>
            <a:gdLst/>
            <a:ahLst/>
            <a:cxnLst/>
            <a:rect r="r" b="b" t="t" l="l"/>
            <a:pathLst>
              <a:path h="5961301" w="2190180">
                <a:moveTo>
                  <a:pt x="0" y="0"/>
                </a:moveTo>
                <a:lnTo>
                  <a:pt x="2190180" y="0"/>
                </a:lnTo>
                <a:lnTo>
                  <a:pt x="2190180" y="5961301"/>
                </a:lnTo>
                <a:lnTo>
                  <a:pt x="0" y="5961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308082">
            <a:off x="-441196" y="5366783"/>
            <a:ext cx="1274017" cy="5960316"/>
          </a:xfrm>
          <a:custGeom>
            <a:avLst/>
            <a:gdLst/>
            <a:ahLst/>
            <a:cxnLst/>
            <a:rect r="r" b="b" t="t" l="l"/>
            <a:pathLst>
              <a:path h="5960316" w="1274017">
                <a:moveTo>
                  <a:pt x="0" y="0"/>
                </a:moveTo>
                <a:lnTo>
                  <a:pt x="1274018" y="0"/>
                </a:lnTo>
                <a:lnTo>
                  <a:pt x="1274018" y="5960315"/>
                </a:lnTo>
                <a:lnTo>
                  <a:pt x="0" y="5960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0" id="10"/>
          <p:cNvGrpSpPr/>
          <p:nvPr/>
        </p:nvGrpSpPr>
        <p:grpSpPr>
          <a:xfrm rot="0">
            <a:off x="1369387" y="8771121"/>
            <a:ext cx="1028700" cy="10287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2" id="12"/>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5511075" y="-112331"/>
            <a:ext cx="1028700" cy="10287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5" id="1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688013" y="2920686"/>
            <a:ext cx="681375" cy="68137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8" id="18"/>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17290112" y="3774634"/>
            <a:ext cx="681375" cy="68137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2" id="22"/>
          <p:cNvSpPr txBox="true"/>
          <p:nvPr/>
        </p:nvSpPr>
        <p:spPr>
          <a:xfrm rot="0">
            <a:off x="2891242" y="763969"/>
            <a:ext cx="12734149" cy="2451100"/>
          </a:xfrm>
          <a:prstGeom prst="rect">
            <a:avLst/>
          </a:prstGeom>
        </p:spPr>
        <p:txBody>
          <a:bodyPr anchor="t" rtlCol="false" tIns="0" lIns="0" bIns="0" rIns="0">
            <a:spAutoFit/>
          </a:bodyPr>
          <a:lstStyle/>
          <a:p>
            <a:pPr algn="ctr">
              <a:lnSpc>
                <a:spcPts val="9800"/>
              </a:lnSpc>
              <a:spcBef>
                <a:spcPct val="0"/>
              </a:spcBef>
            </a:pPr>
            <a:r>
              <a:rPr lang="en-US" sz="7000">
                <a:solidFill>
                  <a:srgbClr val="5A739E"/>
                </a:solidFill>
                <a:latin typeface="Bernoru"/>
                <a:ea typeface="Bernoru"/>
                <a:cs typeface="Bernoru"/>
                <a:sym typeface="Bernoru"/>
              </a:rPr>
              <a:t>EXPLORATORY DATA ANALYSIS</a:t>
            </a:r>
          </a:p>
        </p:txBody>
      </p:sp>
      <p:sp>
        <p:nvSpPr>
          <p:cNvPr name="TextBox 23" id="23"/>
          <p:cNvSpPr txBox="true"/>
          <p:nvPr/>
        </p:nvSpPr>
        <p:spPr>
          <a:xfrm rot="0">
            <a:off x="5617779" y="3935207"/>
            <a:ext cx="6692405" cy="490855"/>
          </a:xfrm>
          <a:prstGeom prst="rect">
            <a:avLst/>
          </a:prstGeom>
        </p:spPr>
        <p:txBody>
          <a:bodyPr anchor="t" rtlCol="false" tIns="0" lIns="0" bIns="0" rIns="0">
            <a:spAutoFit/>
          </a:bodyPr>
          <a:lstStyle/>
          <a:p>
            <a:pPr algn="ctr">
              <a:lnSpc>
                <a:spcPts val="3919"/>
              </a:lnSpc>
            </a:pPr>
            <a:r>
              <a:rPr lang="en-US" sz="2799">
                <a:solidFill>
                  <a:srgbClr val="FAFCFF"/>
                </a:solidFill>
                <a:latin typeface="Alata"/>
                <a:ea typeface="Alata"/>
                <a:cs typeface="Alata"/>
                <a:sym typeface="Alata"/>
              </a:rPr>
              <a:t>KEY OBSERVATIONS</a:t>
            </a:r>
          </a:p>
        </p:txBody>
      </p:sp>
      <p:sp>
        <p:nvSpPr>
          <p:cNvPr name="TextBox 24" id="24"/>
          <p:cNvSpPr txBox="true"/>
          <p:nvPr/>
        </p:nvSpPr>
        <p:spPr>
          <a:xfrm rot="0">
            <a:off x="4330751" y="5163812"/>
            <a:ext cx="9597484" cy="4223259"/>
          </a:xfrm>
          <a:prstGeom prst="rect">
            <a:avLst/>
          </a:prstGeom>
        </p:spPr>
        <p:txBody>
          <a:bodyPr anchor="t" rtlCol="false" tIns="0" lIns="0" bIns="0" rIns="0">
            <a:spAutoFit/>
          </a:bodyPr>
          <a:lstStyle/>
          <a:p>
            <a:pPr algn="l" marL="604518" indent="-302259" lvl="1">
              <a:lnSpc>
                <a:spcPts val="5655"/>
              </a:lnSpc>
              <a:buFont typeface="Arial"/>
              <a:buChar char="•"/>
            </a:pPr>
            <a:r>
              <a:rPr lang="en-US" sz="2799">
                <a:solidFill>
                  <a:srgbClr val="6B87AF"/>
                </a:solidFill>
                <a:latin typeface="Alata"/>
                <a:ea typeface="Alata"/>
                <a:cs typeface="Alata"/>
                <a:sym typeface="Alata"/>
              </a:rPr>
              <a:t>Roughly half of the patients in the dataset do not have Heart disease</a:t>
            </a:r>
          </a:p>
          <a:p>
            <a:pPr algn="l" marL="604518" indent="-302259" lvl="1">
              <a:lnSpc>
                <a:spcPts val="5655"/>
              </a:lnSpc>
              <a:buFont typeface="Arial"/>
              <a:buChar char="•"/>
            </a:pPr>
            <a:r>
              <a:rPr lang="en-US" sz="2799">
                <a:solidFill>
                  <a:srgbClr val="6B87AF"/>
                </a:solidFill>
                <a:latin typeface="Alata"/>
                <a:ea typeface="Alata"/>
                <a:cs typeface="Alata"/>
                <a:sym typeface="Alata"/>
              </a:rPr>
              <a:t>High correlation observed between features like age, cholesterol, and blood pressure.</a:t>
            </a:r>
          </a:p>
          <a:p>
            <a:pPr algn="l" marL="604518" indent="-302259" lvl="1">
              <a:lnSpc>
                <a:spcPts val="5655"/>
              </a:lnSpc>
              <a:buFont typeface="Arial"/>
              <a:buChar char="•"/>
            </a:pPr>
            <a:r>
              <a:rPr lang="en-US" sz="2799">
                <a:solidFill>
                  <a:srgbClr val="6B87AF"/>
                </a:solidFill>
                <a:latin typeface="Alata"/>
                <a:ea typeface="Alata"/>
                <a:cs typeface="Alata"/>
                <a:sym typeface="Alata"/>
              </a:rPr>
              <a:t>These factors were further analyzed in feature importance plots.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AutoShape 2" id="2"/>
          <p:cNvSpPr/>
          <p:nvPr/>
        </p:nvSpPr>
        <p:spPr>
          <a:xfrm>
            <a:off x="4299760" y="2952593"/>
            <a:ext cx="10081049" cy="0"/>
          </a:xfrm>
          <a:prstGeom prst="line">
            <a:avLst/>
          </a:prstGeom>
          <a:ln cap="flat" w="38100">
            <a:solidFill>
              <a:srgbClr val="BFD8EF"/>
            </a:solidFill>
            <a:prstDash val="solid"/>
            <a:headEnd type="none" len="sm" w="sm"/>
            <a:tailEnd type="none" len="sm" w="sm"/>
          </a:ln>
        </p:spPr>
      </p:sp>
      <p:sp>
        <p:nvSpPr>
          <p:cNvPr name="Freeform 3" id="3"/>
          <p:cNvSpPr/>
          <p:nvPr/>
        </p:nvSpPr>
        <p:spPr>
          <a:xfrm flipH="false" flipV="false" rot="0">
            <a:off x="2776925" y="4911452"/>
            <a:ext cx="1653389" cy="2749920"/>
          </a:xfrm>
          <a:custGeom>
            <a:avLst/>
            <a:gdLst/>
            <a:ahLst/>
            <a:cxnLst/>
            <a:rect r="r" b="b" t="t" l="l"/>
            <a:pathLst>
              <a:path h="2749920" w="1653389">
                <a:moveTo>
                  <a:pt x="0" y="0"/>
                </a:moveTo>
                <a:lnTo>
                  <a:pt x="1653390" y="0"/>
                </a:lnTo>
                <a:lnTo>
                  <a:pt x="1653390" y="2749920"/>
                </a:lnTo>
                <a:lnTo>
                  <a:pt x="0" y="2749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41907" y="4911452"/>
            <a:ext cx="1539955" cy="2749920"/>
          </a:xfrm>
          <a:custGeom>
            <a:avLst/>
            <a:gdLst/>
            <a:ahLst/>
            <a:cxnLst/>
            <a:rect r="r" b="b" t="t" l="l"/>
            <a:pathLst>
              <a:path h="2749920" w="1539955">
                <a:moveTo>
                  <a:pt x="0" y="0"/>
                </a:moveTo>
                <a:lnTo>
                  <a:pt x="1539955" y="0"/>
                </a:lnTo>
                <a:lnTo>
                  <a:pt x="1539955" y="2749920"/>
                </a:lnTo>
                <a:lnTo>
                  <a:pt x="0" y="27499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39653" y="-1005064"/>
            <a:ext cx="3534260" cy="3534260"/>
          </a:xfrm>
          <a:custGeom>
            <a:avLst/>
            <a:gdLst/>
            <a:ahLst/>
            <a:cxnLst/>
            <a:rect r="r" b="b" t="t" l="l"/>
            <a:pathLst>
              <a:path h="3534260" w="3534260">
                <a:moveTo>
                  <a:pt x="0" y="0"/>
                </a:moveTo>
                <a:lnTo>
                  <a:pt x="3534259" y="0"/>
                </a:lnTo>
                <a:lnTo>
                  <a:pt x="3534259" y="3534259"/>
                </a:lnTo>
                <a:lnTo>
                  <a:pt x="0" y="35342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621214">
            <a:off x="16358916" y="8235009"/>
            <a:ext cx="2772251" cy="2772251"/>
          </a:xfrm>
          <a:custGeom>
            <a:avLst/>
            <a:gdLst/>
            <a:ahLst/>
            <a:cxnLst/>
            <a:rect r="r" b="b" t="t" l="l"/>
            <a:pathLst>
              <a:path h="2772251" w="2772251">
                <a:moveTo>
                  <a:pt x="0" y="0"/>
                </a:moveTo>
                <a:lnTo>
                  <a:pt x="2772250" y="0"/>
                </a:lnTo>
                <a:lnTo>
                  <a:pt x="2772250" y="2772251"/>
                </a:lnTo>
                <a:lnTo>
                  <a:pt x="0" y="27722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4049066" y="1406185"/>
            <a:ext cx="10189867" cy="1212850"/>
          </a:xfrm>
          <a:prstGeom prst="rect">
            <a:avLst/>
          </a:prstGeom>
        </p:spPr>
        <p:txBody>
          <a:bodyPr anchor="t" rtlCol="false" tIns="0" lIns="0" bIns="0" rIns="0">
            <a:spAutoFit/>
          </a:bodyPr>
          <a:lstStyle/>
          <a:p>
            <a:pPr algn="ctr">
              <a:lnSpc>
                <a:spcPts val="9800"/>
              </a:lnSpc>
              <a:spcBef>
                <a:spcPct val="0"/>
              </a:spcBef>
            </a:pPr>
            <a:r>
              <a:rPr lang="en-US" sz="7000">
                <a:solidFill>
                  <a:srgbClr val="5A739E"/>
                </a:solidFill>
                <a:latin typeface="Bernoru"/>
                <a:ea typeface="Bernoru"/>
                <a:cs typeface="Bernoru"/>
                <a:sym typeface="Bernoru"/>
              </a:rPr>
              <a:t>MODELING APPROACH</a:t>
            </a:r>
          </a:p>
        </p:txBody>
      </p:sp>
      <p:sp>
        <p:nvSpPr>
          <p:cNvPr name="Freeform 8" id="8"/>
          <p:cNvSpPr/>
          <p:nvPr/>
        </p:nvSpPr>
        <p:spPr>
          <a:xfrm flipH="false" flipV="false" rot="-2825985">
            <a:off x="15767781" y="387128"/>
            <a:ext cx="749874" cy="749874"/>
          </a:xfrm>
          <a:custGeom>
            <a:avLst/>
            <a:gdLst/>
            <a:ahLst/>
            <a:cxnLst/>
            <a:rect r="r" b="b" t="t" l="l"/>
            <a:pathLst>
              <a:path h="749874" w="749874">
                <a:moveTo>
                  <a:pt x="0" y="0"/>
                </a:moveTo>
                <a:lnTo>
                  <a:pt x="749874" y="0"/>
                </a:lnTo>
                <a:lnTo>
                  <a:pt x="749874" y="749875"/>
                </a:lnTo>
                <a:lnTo>
                  <a:pt x="0" y="7498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825985">
            <a:off x="1872103" y="9246197"/>
            <a:ext cx="749874" cy="749874"/>
          </a:xfrm>
          <a:custGeom>
            <a:avLst/>
            <a:gdLst/>
            <a:ahLst/>
            <a:cxnLst/>
            <a:rect r="r" b="b" t="t" l="l"/>
            <a:pathLst>
              <a:path h="749874" w="749874">
                <a:moveTo>
                  <a:pt x="0" y="0"/>
                </a:moveTo>
                <a:lnTo>
                  <a:pt x="749874" y="0"/>
                </a:lnTo>
                <a:lnTo>
                  <a:pt x="749874" y="749874"/>
                </a:lnTo>
                <a:lnTo>
                  <a:pt x="0" y="7498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2825985">
            <a:off x="14711828" y="9246197"/>
            <a:ext cx="749874" cy="749874"/>
          </a:xfrm>
          <a:custGeom>
            <a:avLst/>
            <a:gdLst/>
            <a:ahLst/>
            <a:cxnLst/>
            <a:rect r="r" b="b" t="t" l="l"/>
            <a:pathLst>
              <a:path h="749874" w="749874">
                <a:moveTo>
                  <a:pt x="0" y="0"/>
                </a:moveTo>
                <a:lnTo>
                  <a:pt x="749874" y="0"/>
                </a:lnTo>
                <a:lnTo>
                  <a:pt x="749874" y="749874"/>
                </a:lnTo>
                <a:lnTo>
                  <a:pt x="0" y="7498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2825985">
            <a:off x="123878" y="3729914"/>
            <a:ext cx="749874" cy="749874"/>
          </a:xfrm>
          <a:custGeom>
            <a:avLst/>
            <a:gdLst/>
            <a:ahLst/>
            <a:cxnLst/>
            <a:rect r="r" b="b" t="t" l="l"/>
            <a:pathLst>
              <a:path h="749874" w="749874">
                <a:moveTo>
                  <a:pt x="0" y="0"/>
                </a:moveTo>
                <a:lnTo>
                  <a:pt x="749874" y="0"/>
                </a:lnTo>
                <a:lnTo>
                  <a:pt x="749874" y="749874"/>
                </a:lnTo>
                <a:lnTo>
                  <a:pt x="0" y="7498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4912553" y="4274097"/>
            <a:ext cx="4231447" cy="3957955"/>
          </a:xfrm>
          <a:prstGeom prst="rect">
            <a:avLst/>
          </a:prstGeom>
        </p:spPr>
        <p:txBody>
          <a:bodyPr anchor="t" rtlCol="false" tIns="0" lIns="0" bIns="0" rIns="0">
            <a:spAutoFit/>
          </a:bodyPr>
          <a:lstStyle/>
          <a:p>
            <a:pPr algn="l">
              <a:lnSpc>
                <a:spcPts val="3919"/>
              </a:lnSpc>
            </a:pPr>
            <a:r>
              <a:rPr lang="en-US" sz="2799">
                <a:solidFill>
                  <a:srgbClr val="6B87AF"/>
                </a:solidFill>
                <a:latin typeface="Alata"/>
                <a:ea typeface="Alata"/>
                <a:cs typeface="Alata"/>
                <a:sym typeface="Alata"/>
              </a:rPr>
              <a:t>Five models were evaluated:</a:t>
            </a:r>
          </a:p>
          <a:p>
            <a:pPr algn="l" marL="604518" indent="-302259" lvl="1">
              <a:lnSpc>
                <a:spcPts val="3919"/>
              </a:lnSpc>
              <a:buFont typeface="Arial"/>
              <a:buChar char="•"/>
            </a:pPr>
            <a:r>
              <a:rPr lang="en-US" sz="2799">
                <a:solidFill>
                  <a:srgbClr val="6B87AF"/>
                </a:solidFill>
                <a:latin typeface="Alata"/>
                <a:ea typeface="Alata"/>
                <a:cs typeface="Alata"/>
                <a:sym typeface="Alata"/>
              </a:rPr>
              <a:t>Logistic Regression</a:t>
            </a:r>
          </a:p>
          <a:p>
            <a:pPr algn="l" marL="604518" indent="-302259" lvl="1">
              <a:lnSpc>
                <a:spcPts val="3919"/>
              </a:lnSpc>
              <a:buFont typeface="Arial"/>
              <a:buChar char="•"/>
            </a:pPr>
            <a:r>
              <a:rPr lang="en-US" sz="2799">
                <a:solidFill>
                  <a:srgbClr val="6B87AF"/>
                </a:solidFill>
                <a:latin typeface="Alata"/>
                <a:ea typeface="Alata"/>
                <a:cs typeface="Alata"/>
                <a:sym typeface="Alata"/>
              </a:rPr>
              <a:t>Decision Tree</a:t>
            </a:r>
          </a:p>
          <a:p>
            <a:pPr algn="l" marL="604518" indent="-302259" lvl="1">
              <a:lnSpc>
                <a:spcPts val="3919"/>
              </a:lnSpc>
              <a:buFont typeface="Arial"/>
              <a:buChar char="•"/>
            </a:pPr>
            <a:r>
              <a:rPr lang="en-US" sz="2799">
                <a:solidFill>
                  <a:srgbClr val="6B87AF"/>
                </a:solidFill>
                <a:latin typeface="Alata"/>
                <a:ea typeface="Alata"/>
                <a:cs typeface="Alata"/>
                <a:sym typeface="Alata"/>
              </a:rPr>
              <a:t>Random Forest</a:t>
            </a:r>
          </a:p>
          <a:p>
            <a:pPr algn="l" marL="604518" indent="-302259" lvl="1">
              <a:lnSpc>
                <a:spcPts val="3919"/>
              </a:lnSpc>
              <a:buFont typeface="Arial"/>
              <a:buChar char="•"/>
            </a:pPr>
            <a:r>
              <a:rPr lang="en-US" sz="2799">
                <a:solidFill>
                  <a:srgbClr val="6B87AF"/>
                </a:solidFill>
                <a:latin typeface="Alata"/>
                <a:ea typeface="Alata"/>
                <a:cs typeface="Alata"/>
                <a:sym typeface="Alata"/>
              </a:rPr>
              <a:t>Support Vector Machine</a:t>
            </a:r>
          </a:p>
          <a:p>
            <a:pPr algn="l" marL="604518" indent="-302259" lvl="1">
              <a:lnSpc>
                <a:spcPts val="3919"/>
              </a:lnSpc>
              <a:buFont typeface="Arial"/>
              <a:buChar char="•"/>
            </a:pPr>
            <a:r>
              <a:rPr lang="en-US" sz="2799">
                <a:solidFill>
                  <a:srgbClr val="6B87AF"/>
                </a:solidFill>
                <a:latin typeface="Alata"/>
                <a:ea typeface="Alata"/>
                <a:cs typeface="Alata"/>
                <a:sym typeface="Alata"/>
              </a:rPr>
              <a:t>XGBoost</a:t>
            </a:r>
          </a:p>
        </p:txBody>
      </p:sp>
      <p:sp>
        <p:nvSpPr>
          <p:cNvPr name="TextBox 13" id="13"/>
          <p:cNvSpPr txBox="true"/>
          <p:nvPr/>
        </p:nvSpPr>
        <p:spPr>
          <a:xfrm rot="0">
            <a:off x="12441156" y="4844777"/>
            <a:ext cx="4231447" cy="2472055"/>
          </a:xfrm>
          <a:prstGeom prst="rect">
            <a:avLst/>
          </a:prstGeom>
        </p:spPr>
        <p:txBody>
          <a:bodyPr anchor="t" rtlCol="false" tIns="0" lIns="0" bIns="0" rIns="0">
            <a:spAutoFit/>
          </a:bodyPr>
          <a:lstStyle/>
          <a:p>
            <a:pPr algn="l">
              <a:lnSpc>
                <a:spcPts val="3919"/>
              </a:lnSpc>
            </a:pPr>
            <a:r>
              <a:rPr lang="en-US" sz="2799">
                <a:solidFill>
                  <a:srgbClr val="6B87AF"/>
                </a:solidFill>
                <a:latin typeface="Alata"/>
                <a:ea typeface="Alata"/>
                <a:cs typeface="Alata"/>
                <a:sym typeface="Alata"/>
              </a:rPr>
              <a:t>The dataset was split into training and testing sets (80/20), and models were evaluated using accuracy and ROC-AUC.</a:t>
            </a:r>
          </a:p>
        </p:txBody>
      </p:sp>
      <p:sp>
        <p:nvSpPr>
          <p:cNvPr name="Freeform 14" id="14"/>
          <p:cNvSpPr/>
          <p:nvPr/>
        </p:nvSpPr>
        <p:spPr>
          <a:xfrm flipH="false" flipV="false" rot="-1142376">
            <a:off x="17327209" y="565778"/>
            <a:ext cx="1424375" cy="925844"/>
          </a:xfrm>
          <a:custGeom>
            <a:avLst/>
            <a:gdLst/>
            <a:ahLst/>
            <a:cxnLst/>
            <a:rect r="r" b="b" t="t" l="l"/>
            <a:pathLst>
              <a:path h="925844" w="1424375">
                <a:moveTo>
                  <a:pt x="0" y="0"/>
                </a:moveTo>
                <a:lnTo>
                  <a:pt x="1424375" y="0"/>
                </a:lnTo>
                <a:lnTo>
                  <a:pt x="1424375" y="925844"/>
                </a:lnTo>
                <a:lnTo>
                  <a:pt x="0" y="9258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true" flipV="false" rot="-629543">
            <a:off x="-553935" y="8150393"/>
            <a:ext cx="1506090" cy="978958"/>
          </a:xfrm>
          <a:custGeom>
            <a:avLst/>
            <a:gdLst/>
            <a:ahLst/>
            <a:cxnLst/>
            <a:rect r="r" b="b" t="t" l="l"/>
            <a:pathLst>
              <a:path h="978958" w="1506090">
                <a:moveTo>
                  <a:pt x="1506090" y="0"/>
                </a:moveTo>
                <a:lnTo>
                  <a:pt x="0" y="0"/>
                </a:lnTo>
                <a:lnTo>
                  <a:pt x="0" y="978958"/>
                </a:lnTo>
                <a:lnTo>
                  <a:pt x="1506090" y="978958"/>
                </a:lnTo>
                <a:lnTo>
                  <a:pt x="150609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AutoShape 2" id="2"/>
          <p:cNvSpPr/>
          <p:nvPr/>
        </p:nvSpPr>
        <p:spPr>
          <a:xfrm>
            <a:off x="2221055" y="2757836"/>
            <a:ext cx="13845890" cy="0"/>
          </a:xfrm>
          <a:prstGeom prst="line">
            <a:avLst/>
          </a:prstGeom>
          <a:ln cap="flat" w="38100">
            <a:solidFill>
              <a:srgbClr val="BFD8EF"/>
            </a:solidFill>
            <a:prstDash val="solid"/>
            <a:headEnd type="none" len="sm" w="sm"/>
            <a:tailEnd type="none" len="sm" w="sm"/>
          </a:ln>
        </p:spPr>
      </p:sp>
      <p:sp>
        <p:nvSpPr>
          <p:cNvPr name="Freeform 3" id="3"/>
          <p:cNvSpPr/>
          <p:nvPr/>
        </p:nvSpPr>
        <p:spPr>
          <a:xfrm flipH="false" flipV="false" rot="1008954">
            <a:off x="-775545" y="654056"/>
            <a:ext cx="2433823" cy="4819451"/>
          </a:xfrm>
          <a:custGeom>
            <a:avLst/>
            <a:gdLst/>
            <a:ahLst/>
            <a:cxnLst/>
            <a:rect r="r" b="b" t="t" l="l"/>
            <a:pathLst>
              <a:path h="4819451" w="2433823">
                <a:moveTo>
                  <a:pt x="0" y="0"/>
                </a:moveTo>
                <a:lnTo>
                  <a:pt x="2433822" y="0"/>
                </a:lnTo>
                <a:lnTo>
                  <a:pt x="2433822" y="4819451"/>
                </a:lnTo>
                <a:lnTo>
                  <a:pt x="0" y="48194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10630">
            <a:off x="16944828" y="6426208"/>
            <a:ext cx="1738503" cy="4114800"/>
          </a:xfrm>
          <a:custGeom>
            <a:avLst/>
            <a:gdLst/>
            <a:ahLst/>
            <a:cxnLst/>
            <a:rect r="r" b="b" t="t" l="l"/>
            <a:pathLst>
              <a:path h="4114800" w="1738503">
                <a:moveTo>
                  <a:pt x="0" y="0"/>
                </a:moveTo>
                <a:lnTo>
                  <a:pt x="1738503" y="0"/>
                </a:lnTo>
                <a:lnTo>
                  <a:pt x="173850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7259300" y="2578143"/>
            <a:ext cx="681375" cy="6813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7" id="7"/>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116964" y="8917613"/>
            <a:ext cx="681375" cy="68137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0" id="10"/>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6773540" y="688013"/>
            <a:ext cx="681375" cy="68137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3" id="13"/>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347325" y="7509487"/>
            <a:ext cx="681375" cy="68137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6" id="16"/>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1831549" y="1158959"/>
            <a:ext cx="14624902" cy="1212850"/>
          </a:xfrm>
          <a:prstGeom prst="rect">
            <a:avLst/>
          </a:prstGeom>
        </p:spPr>
        <p:txBody>
          <a:bodyPr anchor="t" rtlCol="false" tIns="0" lIns="0" bIns="0" rIns="0">
            <a:spAutoFit/>
          </a:bodyPr>
          <a:lstStyle/>
          <a:p>
            <a:pPr algn="ctr">
              <a:lnSpc>
                <a:spcPts val="9800"/>
              </a:lnSpc>
              <a:spcBef>
                <a:spcPct val="0"/>
              </a:spcBef>
            </a:pPr>
            <a:r>
              <a:rPr lang="en-US" sz="7000">
                <a:solidFill>
                  <a:srgbClr val="5A739E"/>
                </a:solidFill>
                <a:latin typeface="Bernoru"/>
                <a:ea typeface="Bernoru"/>
                <a:cs typeface="Bernoru"/>
                <a:sym typeface="Bernoru"/>
              </a:rPr>
              <a:t>PERFORMANCE SUMMARY</a:t>
            </a:r>
          </a:p>
        </p:txBody>
      </p:sp>
      <p:sp>
        <p:nvSpPr>
          <p:cNvPr name="TextBox 18" id="18"/>
          <p:cNvSpPr txBox="true"/>
          <p:nvPr/>
        </p:nvSpPr>
        <p:spPr>
          <a:xfrm rot="0">
            <a:off x="1831549" y="3944827"/>
            <a:ext cx="4527837" cy="606425"/>
          </a:xfrm>
          <a:prstGeom prst="rect">
            <a:avLst/>
          </a:prstGeom>
        </p:spPr>
        <p:txBody>
          <a:bodyPr anchor="t" rtlCol="false" tIns="0" lIns="0" bIns="0" rIns="0">
            <a:spAutoFit/>
          </a:bodyPr>
          <a:lstStyle/>
          <a:p>
            <a:pPr algn="ctr">
              <a:lnSpc>
                <a:spcPts val="4899"/>
              </a:lnSpc>
              <a:spcBef>
                <a:spcPct val="0"/>
              </a:spcBef>
            </a:pPr>
            <a:r>
              <a:rPr lang="en-US" sz="3499">
                <a:solidFill>
                  <a:srgbClr val="5A739E"/>
                </a:solidFill>
                <a:latin typeface="Bernoru"/>
                <a:ea typeface="Bernoru"/>
                <a:cs typeface="Bernoru"/>
                <a:sym typeface="Bernoru"/>
              </a:rPr>
              <a:t>MODEL</a:t>
            </a:r>
          </a:p>
        </p:txBody>
      </p:sp>
      <p:sp>
        <p:nvSpPr>
          <p:cNvPr name="TextBox 19" id="19"/>
          <p:cNvSpPr txBox="true"/>
          <p:nvPr/>
        </p:nvSpPr>
        <p:spPr>
          <a:xfrm rot="0">
            <a:off x="6916726" y="3944827"/>
            <a:ext cx="4454549" cy="606425"/>
          </a:xfrm>
          <a:prstGeom prst="rect">
            <a:avLst/>
          </a:prstGeom>
        </p:spPr>
        <p:txBody>
          <a:bodyPr anchor="t" rtlCol="false" tIns="0" lIns="0" bIns="0" rIns="0">
            <a:spAutoFit/>
          </a:bodyPr>
          <a:lstStyle/>
          <a:p>
            <a:pPr algn="ctr">
              <a:lnSpc>
                <a:spcPts val="4899"/>
              </a:lnSpc>
              <a:spcBef>
                <a:spcPct val="0"/>
              </a:spcBef>
            </a:pPr>
            <a:r>
              <a:rPr lang="en-US" sz="3499">
                <a:solidFill>
                  <a:srgbClr val="5A739E"/>
                </a:solidFill>
                <a:latin typeface="Bernoru"/>
                <a:ea typeface="Bernoru"/>
                <a:cs typeface="Bernoru"/>
                <a:sym typeface="Bernoru"/>
              </a:rPr>
              <a:t>ACCURACY</a:t>
            </a:r>
          </a:p>
        </p:txBody>
      </p:sp>
      <p:sp>
        <p:nvSpPr>
          <p:cNvPr name="TextBox 20" id="20"/>
          <p:cNvSpPr txBox="true"/>
          <p:nvPr/>
        </p:nvSpPr>
        <p:spPr>
          <a:xfrm rot="0">
            <a:off x="11933249" y="3944827"/>
            <a:ext cx="4454549" cy="606425"/>
          </a:xfrm>
          <a:prstGeom prst="rect">
            <a:avLst/>
          </a:prstGeom>
        </p:spPr>
        <p:txBody>
          <a:bodyPr anchor="t" rtlCol="false" tIns="0" lIns="0" bIns="0" rIns="0">
            <a:spAutoFit/>
          </a:bodyPr>
          <a:lstStyle/>
          <a:p>
            <a:pPr algn="ctr">
              <a:lnSpc>
                <a:spcPts val="4899"/>
              </a:lnSpc>
              <a:spcBef>
                <a:spcPct val="0"/>
              </a:spcBef>
            </a:pPr>
            <a:r>
              <a:rPr lang="en-US" sz="3499">
                <a:solidFill>
                  <a:srgbClr val="5A739E"/>
                </a:solidFill>
                <a:latin typeface="Bernoru"/>
                <a:ea typeface="Bernoru"/>
                <a:cs typeface="Bernoru"/>
                <a:sym typeface="Bernoru"/>
              </a:rPr>
              <a:t>ROC-AUC</a:t>
            </a:r>
          </a:p>
        </p:txBody>
      </p:sp>
      <p:sp>
        <p:nvSpPr>
          <p:cNvPr name="TextBox 21" id="21"/>
          <p:cNvSpPr txBox="true"/>
          <p:nvPr/>
        </p:nvSpPr>
        <p:spPr>
          <a:xfrm rot="0">
            <a:off x="2571663" y="6475095"/>
            <a:ext cx="3171895"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Logistic Regression</a:t>
            </a:r>
          </a:p>
        </p:txBody>
      </p:sp>
      <p:sp>
        <p:nvSpPr>
          <p:cNvPr name="TextBox 22" id="22"/>
          <p:cNvSpPr txBox="true"/>
          <p:nvPr/>
        </p:nvSpPr>
        <p:spPr>
          <a:xfrm rot="0">
            <a:off x="7680317" y="4864735"/>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73.19%</a:t>
            </a:r>
          </a:p>
        </p:txBody>
      </p:sp>
      <p:sp>
        <p:nvSpPr>
          <p:cNvPr name="TextBox 23" id="23"/>
          <p:cNvSpPr txBox="true"/>
          <p:nvPr/>
        </p:nvSpPr>
        <p:spPr>
          <a:xfrm rot="0">
            <a:off x="12691302" y="5669915"/>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0.782</a:t>
            </a:r>
          </a:p>
        </p:txBody>
      </p:sp>
      <p:sp>
        <p:nvSpPr>
          <p:cNvPr name="AutoShape 24" id="24"/>
          <p:cNvSpPr/>
          <p:nvPr/>
        </p:nvSpPr>
        <p:spPr>
          <a:xfrm flipV="true">
            <a:off x="6523347" y="3685742"/>
            <a:ext cx="2855" cy="5081458"/>
          </a:xfrm>
          <a:prstGeom prst="line">
            <a:avLst/>
          </a:prstGeom>
          <a:ln cap="flat" w="38100">
            <a:solidFill>
              <a:srgbClr val="BFD8EF"/>
            </a:solidFill>
            <a:prstDash val="solid"/>
            <a:headEnd type="none" len="sm" w="sm"/>
            <a:tailEnd type="none" len="sm" w="sm"/>
          </a:ln>
        </p:spPr>
      </p:sp>
      <p:sp>
        <p:nvSpPr>
          <p:cNvPr name="TextBox 25" id="25"/>
          <p:cNvSpPr txBox="true"/>
          <p:nvPr/>
        </p:nvSpPr>
        <p:spPr>
          <a:xfrm rot="0">
            <a:off x="2673515" y="4864735"/>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XGBOOST</a:t>
            </a:r>
          </a:p>
        </p:txBody>
      </p:sp>
      <p:sp>
        <p:nvSpPr>
          <p:cNvPr name="TextBox 26" id="26"/>
          <p:cNvSpPr txBox="true"/>
          <p:nvPr/>
        </p:nvSpPr>
        <p:spPr>
          <a:xfrm rot="0">
            <a:off x="2673515" y="5669915"/>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SVM</a:t>
            </a:r>
          </a:p>
        </p:txBody>
      </p:sp>
      <p:sp>
        <p:nvSpPr>
          <p:cNvPr name="TextBox 27" id="27"/>
          <p:cNvSpPr txBox="true"/>
          <p:nvPr/>
        </p:nvSpPr>
        <p:spPr>
          <a:xfrm rot="0">
            <a:off x="2673515" y="7280276"/>
            <a:ext cx="3171895"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Random Forest</a:t>
            </a:r>
          </a:p>
        </p:txBody>
      </p:sp>
      <p:sp>
        <p:nvSpPr>
          <p:cNvPr name="TextBox 28" id="28"/>
          <p:cNvSpPr txBox="true"/>
          <p:nvPr/>
        </p:nvSpPr>
        <p:spPr>
          <a:xfrm rot="0">
            <a:off x="2673515" y="8085456"/>
            <a:ext cx="3171895"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Decision Tree</a:t>
            </a:r>
          </a:p>
        </p:txBody>
      </p:sp>
      <p:sp>
        <p:nvSpPr>
          <p:cNvPr name="AutoShape 29" id="29"/>
          <p:cNvSpPr/>
          <p:nvPr/>
        </p:nvSpPr>
        <p:spPr>
          <a:xfrm flipV="true">
            <a:off x="11802623" y="3685877"/>
            <a:ext cx="2855" cy="5065684"/>
          </a:xfrm>
          <a:prstGeom prst="line">
            <a:avLst/>
          </a:prstGeom>
          <a:ln cap="flat" w="38100">
            <a:solidFill>
              <a:srgbClr val="BFD8EF"/>
            </a:solidFill>
            <a:prstDash val="solid"/>
            <a:headEnd type="none" len="sm" w="sm"/>
            <a:tailEnd type="none" len="sm" w="sm"/>
          </a:ln>
        </p:spPr>
      </p:sp>
      <p:sp>
        <p:nvSpPr>
          <p:cNvPr name="AutoShape 30" id="30"/>
          <p:cNvSpPr/>
          <p:nvPr/>
        </p:nvSpPr>
        <p:spPr>
          <a:xfrm flipH="true" flipV="true">
            <a:off x="2303369" y="3685877"/>
            <a:ext cx="13763576" cy="0"/>
          </a:xfrm>
          <a:prstGeom prst="line">
            <a:avLst/>
          </a:prstGeom>
          <a:ln cap="flat" w="38100">
            <a:solidFill>
              <a:srgbClr val="BFD8EF"/>
            </a:solidFill>
            <a:prstDash val="solid"/>
            <a:headEnd type="none" len="sm" w="sm"/>
            <a:tailEnd type="none" len="sm" w="sm"/>
          </a:ln>
        </p:spPr>
      </p:sp>
      <p:sp>
        <p:nvSpPr>
          <p:cNvPr name="AutoShape 31" id="31"/>
          <p:cNvSpPr/>
          <p:nvPr/>
        </p:nvSpPr>
        <p:spPr>
          <a:xfrm flipH="true" flipV="true">
            <a:off x="2303369" y="4741331"/>
            <a:ext cx="13763576" cy="0"/>
          </a:xfrm>
          <a:prstGeom prst="line">
            <a:avLst/>
          </a:prstGeom>
          <a:ln cap="flat" w="38100">
            <a:solidFill>
              <a:srgbClr val="BFD8EF"/>
            </a:solidFill>
            <a:prstDash val="solid"/>
            <a:headEnd type="none" len="sm" w="sm"/>
            <a:tailEnd type="none" len="sm" w="sm"/>
          </a:ln>
        </p:spPr>
      </p:sp>
      <p:sp>
        <p:nvSpPr>
          <p:cNvPr name="AutoShape 32" id="32"/>
          <p:cNvSpPr/>
          <p:nvPr/>
        </p:nvSpPr>
        <p:spPr>
          <a:xfrm flipH="true" flipV="true">
            <a:off x="2262212" y="5546090"/>
            <a:ext cx="13763576" cy="0"/>
          </a:xfrm>
          <a:prstGeom prst="line">
            <a:avLst/>
          </a:prstGeom>
          <a:ln cap="flat" w="38100">
            <a:solidFill>
              <a:srgbClr val="BFD8EF"/>
            </a:solidFill>
            <a:prstDash val="solid"/>
            <a:headEnd type="none" len="sm" w="sm"/>
            <a:tailEnd type="none" len="sm" w="sm"/>
          </a:ln>
        </p:spPr>
      </p:sp>
      <p:sp>
        <p:nvSpPr>
          <p:cNvPr name="AutoShape 33" id="33"/>
          <p:cNvSpPr/>
          <p:nvPr/>
        </p:nvSpPr>
        <p:spPr>
          <a:xfrm flipH="true" flipV="true">
            <a:off x="2270310" y="6351270"/>
            <a:ext cx="13763576" cy="0"/>
          </a:xfrm>
          <a:prstGeom prst="line">
            <a:avLst/>
          </a:prstGeom>
          <a:ln cap="flat" w="38100">
            <a:solidFill>
              <a:srgbClr val="BFD8EF"/>
            </a:solidFill>
            <a:prstDash val="solid"/>
            <a:headEnd type="none" len="sm" w="sm"/>
            <a:tailEnd type="none" len="sm" w="sm"/>
          </a:ln>
        </p:spPr>
      </p:sp>
      <p:sp>
        <p:nvSpPr>
          <p:cNvPr name="AutoShape 34" id="34"/>
          <p:cNvSpPr/>
          <p:nvPr/>
        </p:nvSpPr>
        <p:spPr>
          <a:xfrm flipH="true" flipV="true">
            <a:off x="2303369" y="7156451"/>
            <a:ext cx="13763576" cy="0"/>
          </a:xfrm>
          <a:prstGeom prst="line">
            <a:avLst/>
          </a:prstGeom>
          <a:ln cap="flat" w="38100">
            <a:solidFill>
              <a:srgbClr val="BFD8EF"/>
            </a:solidFill>
            <a:prstDash val="solid"/>
            <a:headEnd type="none" len="sm" w="sm"/>
            <a:tailEnd type="none" len="sm" w="sm"/>
          </a:ln>
        </p:spPr>
      </p:sp>
      <p:sp>
        <p:nvSpPr>
          <p:cNvPr name="AutoShape 35" id="35"/>
          <p:cNvSpPr/>
          <p:nvPr/>
        </p:nvSpPr>
        <p:spPr>
          <a:xfrm flipH="true" flipV="true">
            <a:off x="2303369" y="7961631"/>
            <a:ext cx="13763576" cy="0"/>
          </a:xfrm>
          <a:prstGeom prst="line">
            <a:avLst/>
          </a:prstGeom>
          <a:ln cap="flat" w="38100">
            <a:solidFill>
              <a:srgbClr val="BFD8EF"/>
            </a:solidFill>
            <a:prstDash val="solid"/>
            <a:headEnd type="none" len="sm" w="sm"/>
            <a:tailEnd type="none" len="sm" w="sm"/>
          </a:ln>
        </p:spPr>
      </p:sp>
      <p:sp>
        <p:nvSpPr>
          <p:cNvPr name="AutoShape 36" id="36"/>
          <p:cNvSpPr/>
          <p:nvPr/>
        </p:nvSpPr>
        <p:spPr>
          <a:xfrm flipH="true" flipV="true">
            <a:off x="2303369" y="8766811"/>
            <a:ext cx="13763576" cy="0"/>
          </a:xfrm>
          <a:prstGeom prst="line">
            <a:avLst/>
          </a:prstGeom>
          <a:ln cap="flat" w="38100">
            <a:solidFill>
              <a:srgbClr val="BFD8EF"/>
            </a:solidFill>
            <a:prstDash val="solid"/>
            <a:headEnd type="none" len="sm" w="sm"/>
            <a:tailEnd type="none" len="sm" w="sm"/>
          </a:ln>
        </p:spPr>
      </p:sp>
      <p:sp>
        <p:nvSpPr>
          <p:cNvPr name="AutoShape 37" id="37"/>
          <p:cNvSpPr/>
          <p:nvPr/>
        </p:nvSpPr>
        <p:spPr>
          <a:xfrm flipV="true">
            <a:off x="2301942" y="3685888"/>
            <a:ext cx="2855" cy="5081458"/>
          </a:xfrm>
          <a:prstGeom prst="line">
            <a:avLst/>
          </a:prstGeom>
          <a:ln cap="flat" w="38100">
            <a:solidFill>
              <a:srgbClr val="BFD8EF"/>
            </a:solidFill>
            <a:prstDash val="solid"/>
            <a:headEnd type="none" len="sm" w="sm"/>
            <a:tailEnd type="none" len="sm" w="sm"/>
          </a:ln>
        </p:spPr>
      </p:sp>
      <p:sp>
        <p:nvSpPr>
          <p:cNvPr name="AutoShape 38" id="38"/>
          <p:cNvSpPr/>
          <p:nvPr/>
        </p:nvSpPr>
        <p:spPr>
          <a:xfrm flipV="true">
            <a:off x="16032458" y="3685752"/>
            <a:ext cx="2855" cy="5065684"/>
          </a:xfrm>
          <a:prstGeom prst="line">
            <a:avLst/>
          </a:prstGeom>
          <a:ln cap="flat" w="38100">
            <a:solidFill>
              <a:srgbClr val="BFD8EF"/>
            </a:solidFill>
            <a:prstDash val="solid"/>
            <a:headEnd type="none" len="sm" w="sm"/>
            <a:tailEnd type="none" len="sm" w="sm"/>
          </a:ln>
        </p:spPr>
      </p:sp>
      <p:sp>
        <p:nvSpPr>
          <p:cNvPr name="TextBox 39" id="39"/>
          <p:cNvSpPr txBox="true"/>
          <p:nvPr/>
        </p:nvSpPr>
        <p:spPr>
          <a:xfrm rot="0">
            <a:off x="12691302" y="4865156"/>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0.795</a:t>
            </a:r>
          </a:p>
        </p:txBody>
      </p:sp>
      <p:sp>
        <p:nvSpPr>
          <p:cNvPr name="TextBox 40" id="40"/>
          <p:cNvSpPr txBox="true"/>
          <p:nvPr/>
        </p:nvSpPr>
        <p:spPr>
          <a:xfrm rot="0">
            <a:off x="7680317" y="5655840"/>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72.54%</a:t>
            </a:r>
          </a:p>
        </p:txBody>
      </p:sp>
      <p:sp>
        <p:nvSpPr>
          <p:cNvPr name="TextBox 41" id="41"/>
          <p:cNvSpPr txBox="true"/>
          <p:nvPr/>
        </p:nvSpPr>
        <p:spPr>
          <a:xfrm rot="0">
            <a:off x="7680317" y="6484620"/>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71.39%</a:t>
            </a:r>
          </a:p>
        </p:txBody>
      </p:sp>
      <p:sp>
        <p:nvSpPr>
          <p:cNvPr name="TextBox 42" id="42"/>
          <p:cNvSpPr txBox="true"/>
          <p:nvPr/>
        </p:nvSpPr>
        <p:spPr>
          <a:xfrm rot="0">
            <a:off x="2221055" y="9191625"/>
            <a:ext cx="13845890" cy="490855"/>
          </a:xfrm>
          <a:prstGeom prst="rect">
            <a:avLst/>
          </a:prstGeom>
        </p:spPr>
        <p:txBody>
          <a:bodyPr anchor="t" rtlCol="false" tIns="0" lIns="0" bIns="0" rIns="0">
            <a:spAutoFit/>
          </a:bodyPr>
          <a:lstStyle/>
          <a:p>
            <a:pPr algn="l">
              <a:lnSpc>
                <a:spcPts val="3919"/>
              </a:lnSpc>
            </a:pPr>
            <a:r>
              <a:rPr lang="en-US" sz="2799">
                <a:solidFill>
                  <a:srgbClr val="6B87AF"/>
                </a:solidFill>
                <a:latin typeface="Alata"/>
                <a:ea typeface="Alata"/>
                <a:cs typeface="Alata"/>
                <a:sym typeface="Alata"/>
              </a:rPr>
              <a:t>XGBoost achieved the highest ROC-AUC score and is recommended for deployment.</a:t>
            </a:r>
          </a:p>
        </p:txBody>
      </p:sp>
      <p:sp>
        <p:nvSpPr>
          <p:cNvPr name="TextBox 43" id="43"/>
          <p:cNvSpPr txBox="true"/>
          <p:nvPr/>
        </p:nvSpPr>
        <p:spPr>
          <a:xfrm rot="0">
            <a:off x="7680317" y="7289801"/>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71.66%</a:t>
            </a:r>
          </a:p>
        </p:txBody>
      </p:sp>
      <p:sp>
        <p:nvSpPr>
          <p:cNvPr name="TextBox 44" id="44"/>
          <p:cNvSpPr txBox="true"/>
          <p:nvPr/>
        </p:nvSpPr>
        <p:spPr>
          <a:xfrm rot="0">
            <a:off x="12676429" y="6484620"/>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0.778</a:t>
            </a:r>
          </a:p>
        </p:txBody>
      </p:sp>
      <p:sp>
        <p:nvSpPr>
          <p:cNvPr name="TextBox 45" id="45"/>
          <p:cNvSpPr txBox="true"/>
          <p:nvPr/>
        </p:nvSpPr>
        <p:spPr>
          <a:xfrm rot="0">
            <a:off x="12691302" y="7230722"/>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0.772</a:t>
            </a:r>
          </a:p>
        </p:txBody>
      </p:sp>
      <p:sp>
        <p:nvSpPr>
          <p:cNvPr name="TextBox 46" id="46"/>
          <p:cNvSpPr txBox="true"/>
          <p:nvPr/>
        </p:nvSpPr>
        <p:spPr>
          <a:xfrm rot="0">
            <a:off x="7680317" y="8085456"/>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63.15%</a:t>
            </a:r>
          </a:p>
        </p:txBody>
      </p:sp>
      <p:sp>
        <p:nvSpPr>
          <p:cNvPr name="TextBox 47" id="47"/>
          <p:cNvSpPr txBox="true"/>
          <p:nvPr/>
        </p:nvSpPr>
        <p:spPr>
          <a:xfrm rot="0">
            <a:off x="12676429" y="8114662"/>
            <a:ext cx="2968189" cy="490855"/>
          </a:xfrm>
          <a:prstGeom prst="rect">
            <a:avLst/>
          </a:prstGeom>
        </p:spPr>
        <p:txBody>
          <a:bodyPr anchor="t" rtlCol="false" tIns="0" lIns="0" bIns="0" rIns="0">
            <a:spAutoFit/>
          </a:bodyPr>
          <a:lstStyle/>
          <a:p>
            <a:pPr algn="ctr">
              <a:lnSpc>
                <a:spcPts val="3919"/>
              </a:lnSpc>
            </a:pPr>
            <a:r>
              <a:rPr lang="en-US" sz="2799">
                <a:solidFill>
                  <a:srgbClr val="6B87AF"/>
                </a:solidFill>
                <a:latin typeface="Alata"/>
                <a:ea typeface="Alata"/>
                <a:cs typeface="Alata"/>
                <a:sym typeface="Alata"/>
              </a:rPr>
              <a:t>0.631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AutoShape 2" id="2"/>
          <p:cNvSpPr/>
          <p:nvPr/>
        </p:nvSpPr>
        <p:spPr>
          <a:xfrm flipV="true">
            <a:off x="4729863" y="2475177"/>
            <a:ext cx="8828273" cy="0"/>
          </a:xfrm>
          <a:prstGeom prst="line">
            <a:avLst/>
          </a:prstGeom>
          <a:ln cap="flat" w="38100">
            <a:solidFill>
              <a:srgbClr val="BFD8EF"/>
            </a:solidFill>
            <a:prstDash val="solid"/>
            <a:headEnd type="none" len="sm" w="sm"/>
            <a:tailEnd type="none" len="sm" w="sm"/>
          </a:ln>
        </p:spPr>
      </p:sp>
      <p:sp>
        <p:nvSpPr>
          <p:cNvPr name="TextBox 3" id="3"/>
          <p:cNvSpPr txBox="true"/>
          <p:nvPr/>
        </p:nvSpPr>
        <p:spPr>
          <a:xfrm rot="0">
            <a:off x="3431357" y="876300"/>
            <a:ext cx="11425286" cy="1212850"/>
          </a:xfrm>
          <a:prstGeom prst="rect">
            <a:avLst/>
          </a:prstGeom>
        </p:spPr>
        <p:txBody>
          <a:bodyPr anchor="t" rtlCol="false" tIns="0" lIns="0" bIns="0" rIns="0">
            <a:spAutoFit/>
          </a:bodyPr>
          <a:lstStyle/>
          <a:p>
            <a:pPr algn="ctr">
              <a:lnSpc>
                <a:spcPts val="9800"/>
              </a:lnSpc>
              <a:spcBef>
                <a:spcPct val="0"/>
              </a:spcBef>
            </a:pPr>
            <a:r>
              <a:rPr lang="en-US" sz="7000">
                <a:solidFill>
                  <a:srgbClr val="5A739E"/>
                </a:solidFill>
                <a:latin typeface="Bernoru"/>
                <a:ea typeface="Bernoru"/>
                <a:cs typeface="Bernoru"/>
                <a:sym typeface="Bernoru"/>
              </a:rPr>
              <a:t>FEATURE IMPORTANCE</a:t>
            </a:r>
          </a:p>
        </p:txBody>
      </p:sp>
      <p:sp>
        <p:nvSpPr>
          <p:cNvPr name="TextBox 4" id="4"/>
          <p:cNvSpPr txBox="true"/>
          <p:nvPr/>
        </p:nvSpPr>
        <p:spPr>
          <a:xfrm rot="0">
            <a:off x="10261075" y="3230334"/>
            <a:ext cx="5685106" cy="3508884"/>
          </a:xfrm>
          <a:prstGeom prst="rect">
            <a:avLst/>
          </a:prstGeom>
        </p:spPr>
        <p:txBody>
          <a:bodyPr anchor="t" rtlCol="false" tIns="0" lIns="0" bIns="0" rIns="0">
            <a:spAutoFit/>
          </a:bodyPr>
          <a:lstStyle/>
          <a:p>
            <a:pPr algn="l">
              <a:lnSpc>
                <a:spcPts val="5655"/>
              </a:lnSpc>
            </a:pPr>
            <a:r>
              <a:rPr lang="en-US" sz="2799">
                <a:solidFill>
                  <a:srgbClr val="6B87AF"/>
                </a:solidFill>
                <a:latin typeface="Alata"/>
                <a:ea typeface="Alata"/>
                <a:cs typeface="Alata"/>
                <a:sym typeface="Alata"/>
              </a:rPr>
              <a:t>These features consistently ranked high in </a:t>
            </a:r>
          </a:p>
          <a:p>
            <a:pPr algn="l" marL="604518" indent="-302259" lvl="1">
              <a:lnSpc>
                <a:spcPts val="5655"/>
              </a:lnSpc>
              <a:buFont typeface="Arial"/>
              <a:buChar char="•"/>
            </a:pPr>
            <a:r>
              <a:rPr lang="en-US" sz="2799">
                <a:solidFill>
                  <a:srgbClr val="6B87AF"/>
                </a:solidFill>
                <a:latin typeface="Alata"/>
                <a:ea typeface="Alata"/>
                <a:cs typeface="Alata"/>
                <a:sym typeface="Alata"/>
              </a:rPr>
              <a:t>Random Forest, </a:t>
            </a:r>
          </a:p>
          <a:p>
            <a:pPr algn="l" marL="604518" indent="-302259" lvl="1">
              <a:lnSpc>
                <a:spcPts val="5655"/>
              </a:lnSpc>
              <a:buFont typeface="Arial"/>
              <a:buChar char="•"/>
            </a:pPr>
            <a:r>
              <a:rPr lang="en-US" sz="2799">
                <a:solidFill>
                  <a:srgbClr val="6B87AF"/>
                </a:solidFill>
                <a:latin typeface="Alata"/>
                <a:ea typeface="Alata"/>
                <a:cs typeface="Alata"/>
                <a:sym typeface="Alata"/>
              </a:rPr>
              <a:t>XGBoost, </a:t>
            </a:r>
          </a:p>
          <a:p>
            <a:pPr algn="l" marL="604518" indent="-302259" lvl="1">
              <a:lnSpc>
                <a:spcPts val="5655"/>
              </a:lnSpc>
              <a:buFont typeface="Arial"/>
              <a:buChar char="•"/>
            </a:pPr>
            <a:r>
              <a:rPr lang="en-US" sz="2799">
                <a:solidFill>
                  <a:srgbClr val="6B87AF"/>
                </a:solidFill>
                <a:latin typeface="Alata"/>
                <a:ea typeface="Alata"/>
                <a:cs typeface="Alata"/>
                <a:sym typeface="Alata"/>
              </a:rPr>
              <a:t>and Decision Tree models.</a:t>
            </a:r>
          </a:p>
        </p:txBody>
      </p:sp>
      <p:grpSp>
        <p:nvGrpSpPr>
          <p:cNvPr name="Group 5" id="5"/>
          <p:cNvGrpSpPr/>
          <p:nvPr/>
        </p:nvGrpSpPr>
        <p:grpSpPr>
          <a:xfrm rot="0">
            <a:off x="1028700" y="688013"/>
            <a:ext cx="681375" cy="6813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7" id="7"/>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6627555" y="8717237"/>
            <a:ext cx="681375" cy="68137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0" id="10"/>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5946180" y="1407775"/>
            <a:ext cx="681375" cy="68137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3" id="13"/>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688013" y="9046478"/>
            <a:ext cx="681375" cy="68137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6" id="16"/>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7" id="17"/>
          <p:cNvSpPr/>
          <p:nvPr/>
        </p:nvSpPr>
        <p:spPr>
          <a:xfrm flipH="false" flipV="false" rot="-1142376">
            <a:off x="17371354" y="207006"/>
            <a:ext cx="1424375" cy="925844"/>
          </a:xfrm>
          <a:custGeom>
            <a:avLst/>
            <a:gdLst/>
            <a:ahLst/>
            <a:cxnLst/>
            <a:rect r="r" b="b" t="t" l="l"/>
            <a:pathLst>
              <a:path h="925844" w="1424375">
                <a:moveTo>
                  <a:pt x="0" y="0"/>
                </a:moveTo>
                <a:lnTo>
                  <a:pt x="1424374" y="0"/>
                </a:lnTo>
                <a:lnTo>
                  <a:pt x="1424374" y="925844"/>
                </a:lnTo>
                <a:lnTo>
                  <a:pt x="0" y="9258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142376">
            <a:off x="-452791" y="7182723"/>
            <a:ext cx="1424375" cy="925844"/>
          </a:xfrm>
          <a:custGeom>
            <a:avLst/>
            <a:gdLst/>
            <a:ahLst/>
            <a:cxnLst/>
            <a:rect r="r" b="b" t="t" l="l"/>
            <a:pathLst>
              <a:path h="925844" w="1424375">
                <a:moveTo>
                  <a:pt x="1424375" y="0"/>
                </a:moveTo>
                <a:lnTo>
                  <a:pt x="0" y="0"/>
                </a:lnTo>
                <a:lnTo>
                  <a:pt x="0" y="925844"/>
                </a:lnTo>
                <a:lnTo>
                  <a:pt x="1424375" y="925844"/>
                </a:lnTo>
                <a:lnTo>
                  <a:pt x="14243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2109030" y="3230334"/>
            <a:ext cx="5685106" cy="4937634"/>
          </a:xfrm>
          <a:prstGeom prst="rect">
            <a:avLst/>
          </a:prstGeom>
        </p:spPr>
        <p:txBody>
          <a:bodyPr anchor="t" rtlCol="false" tIns="0" lIns="0" bIns="0" rIns="0">
            <a:spAutoFit/>
          </a:bodyPr>
          <a:lstStyle/>
          <a:p>
            <a:pPr algn="l">
              <a:lnSpc>
                <a:spcPts val="5655"/>
              </a:lnSpc>
            </a:pPr>
            <a:r>
              <a:rPr lang="en-US" sz="2799">
                <a:solidFill>
                  <a:srgbClr val="6B87AF"/>
                </a:solidFill>
                <a:latin typeface="Alata"/>
                <a:ea typeface="Alata"/>
                <a:cs typeface="Alata"/>
                <a:sym typeface="Alata"/>
              </a:rPr>
              <a:t>Top predictive features across models:</a:t>
            </a:r>
          </a:p>
          <a:p>
            <a:pPr algn="l" marL="604518" indent="-302259" lvl="1">
              <a:lnSpc>
                <a:spcPts val="5655"/>
              </a:lnSpc>
              <a:buFont typeface="Arial"/>
              <a:buChar char="•"/>
            </a:pPr>
            <a:r>
              <a:rPr lang="en-US" sz="2799">
                <a:solidFill>
                  <a:srgbClr val="6B87AF"/>
                </a:solidFill>
                <a:latin typeface="Alata"/>
                <a:ea typeface="Alata"/>
                <a:cs typeface="Alata"/>
                <a:sym typeface="Alata"/>
              </a:rPr>
              <a:t>Systolic Blood Pressure (ap_hi)</a:t>
            </a:r>
          </a:p>
          <a:p>
            <a:pPr algn="l" marL="604518" indent="-302259" lvl="1">
              <a:lnSpc>
                <a:spcPts val="5655"/>
              </a:lnSpc>
              <a:buFont typeface="Arial"/>
              <a:buChar char="•"/>
            </a:pPr>
            <a:r>
              <a:rPr lang="en-US" sz="2799">
                <a:solidFill>
                  <a:srgbClr val="6B87AF"/>
                </a:solidFill>
                <a:latin typeface="Alata"/>
                <a:ea typeface="Alata"/>
                <a:cs typeface="Alata"/>
                <a:sym typeface="Alata"/>
              </a:rPr>
              <a:t>Age</a:t>
            </a:r>
          </a:p>
          <a:p>
            <a:pPr algn="l" marL="604518" indent="-302259" lvl="1">
              <a:lnSpc>
                <a:spcPts val="5655"/>
              </a:lnSpc>
              <a:buFont typeface="Arial"/>
              <a:buChar char="•"/>
            </a:pPr>
            <a:r>
              <a:rPr lang="en-US" sz="2799">
                <a:solidFill>
                  <a:srgbClr val="6B87AF"/>
                </a:solidFill>
                <a:latin typeface="Alata"/>
                <a:ea typeface="Alata"/>
                <a:cs typeface="Alata"/>
                <a:sym typeface="Alata"/>
              </a:rPr>
              <a:t>Weight</a:t>
            </a:r>
          </a:p>
          <a:p>
            <a:pPr algn="l" marL="604518" indent="-302259" lvl="1">
              <a:lnSpc>
                <a:spcPts val="5655"/>
              </a:lnSpc>
              <a:buFont typeface="Arial"/>
              <a:buChar char="•"/>
            </a:pPr>
            <a:r>
              <a:rPr lang="en-US" sz="2799">
                <a:solidFill>
                  <a:srgbClr val="6B87AF"/>
                </a:solidFill>
                <a:latin typeface="Alata"/>
                <a:ea typeface="Alata"/>
                <a:cs typeface="Alata"/>
                <a:sym typeface="Alata"/>
              </a:rPr>
              <a:t>Height</a:t>
            </a:r>
          </a:p>
          <a:p>
            <a:pPr algn="l" marL="604518" indent="-302259" lvl="1">
              <a:lnSpc>
                <a:spcPts val="5655"/>
              </a:lnSpc>
              <a:buFont typeface="Arial"/>
              <a:buChar char="•"/>
            </a:pPr>
            <a:r>
              <a:rPr lang="en-US" sz="2799">
                <a:solidFill>
                  <a:srgbClr val="6B87AF"/>
                </a:solidFill>
                <a:latin typeface="Alata"/>
                <a:ea typeface="Alata"/>
                <a:cs typeface="Alata"/>
                <a:sym typeface="Alata"/>
              </a:rPr>
              <a:t>Cholesterol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grpSp>
        <p:nvGrpSpPr>
          <p:cNvPr name="Group 2" id="2"/>
          <p:cNvGrpSpPr/>
          <p:nvPr/>
        </p:nvGrpSpPr>
        <p:grpSpPr>
          <a:xfrm rot="0">
            <a:off x="698275" y="737643"/>
            <a:ext cx="582115" cy="5821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4" id="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6920483" y="446585"/>
            <a:ext cx="582115" cy="5821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7" id="7"/>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045219" y="9168802"/>
            <a:ext cx="582115" cy="5821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0" id="10"/>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698275" y="9168802"/>
            <a:ext cx="582115" cy="58211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3" id="13"/>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1142376">
            <a:off x="17092568" y="224026"/>
            <a:ext cx="1580360" cy="1027234"/>
          </a:xfrm>
          <a:custGeom>
            <a:avLst/>
            <a:gdLst/>
            <a:ahLst/>
            <a:cxnLst/>
            <a:rect r="r" b="b" t="t" l="l"/>
            <a:pathLst>
              <a:path h="1027234" w="1580360">
                <a:moveTo>
                  <a:pt x="0" y="0"/>
                </a:moveTo>
                <a:lnTo>
                  <a:pt x="1580359" y="0"/>
                </a:lnTo>
                <a:lnTo>
                  <a:pt x="1580359" y="1027234"/>
                </a:lnTo>
                <a:lnTo>
                  <a:pt x="0" y="10272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775641">
            <a:off x="4510853" y="9209912"/>
            <a:ext cx="1608721" cy="1045668"/>
          </a:xfrm>
          <a:custGeom>
            <a:avLst/>
            <a:gdLst/>
            <a:ahLst/>
            <a:cxnLst/>
            <a:rect r="r" b="b" t="t" l="l"/>
            <a:pathLst>
              <a:path h="1045668" w="1608721">
                <a:moveTo>
                  <a:pt x="0" y="0"/>
                </a:moveTo>
                <a:lnTo>
                  <a:pt x="1608721" y="0"/>
                </a:lnTo>
                <a:lnTo>
                  <a:pt x="1608721" y="1045668"/>
                </a:lnTo>
                <a:lnTo>
                  <a:pt x="0" y="10456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true" flipV="false" rot="0">
            <a:off x="16543226" y="7221400"/>
            <a:ext cx="1827281" cy="3071061"/>
          </a:xfrm>
          <a:custGeom>
            <a:avLst/>
            <a:gdLst/>
            <a:ahLst/>
            <a:cxnLst/>
            <a:rect r="r" b="b" t="t" l="l"/>
            <a:pathLst>
              <a:path h="3071061" w="1827281">
                <a:moveTo>
                  <a:pt x="1827281" y="0"/>
                </a:moveTo>
                <a:lnTo>
                  <a:pt x="0" y="0"/>
                </a:lnTo>
                <a:lnTo>
                  <a:pt x="0" y="3071061"/>
                </a:lnTo>
                <a:lnTo>
                  <a:pt x="1827281" y="3071061"/>
                </a:lnTo>
                <a:lnTo>
                  <a:pt x="182728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7" id="17"/>
          <p:cNvSpPr/>
          <p:nvPr/>
        </p:nvSpPr>
        <p:spPr>
          <a:xfrm>
            <a:off x="1028700" y="4545155"/>
            <a:ext cx="6677739" cy="0"/>
          </a:xfrm>
          <a:prstGeom prst="line">
            <a:avLst/>
          </a:prstGeom>
          <a:ln cap="flat" w="38100">
            <a:solidFill>
              <a:srgbClr val="BFD8EF"/>
            </a:solidFill>
            <a:prstDash val="solid"/>
            <a:headEnd type="none" len="sm" w="sm"/>
            <a:tailEnd type="none" len="sm" w="sm"/>
          </a:ln>
        </p:spPr>
      </p:sp>
      <p:sp>
        <p:nvSpPr>
          <p:cNvPr name="Freeform 18" id="18"/>
          <p:cNvSpPr/>
          <p:nvPr/>
        </p:nvSpPr>
        <p:spPr>
          <a:xfrm flipH="false" flipV="false" rot="0">
            <a:off x="9183368" y="1931539"/>
            <a:ext cx="8455030" cy="5876246"/>
          </a:xfrm>
          <a:custGeom>
            <a:avLst/>
            <a:gdLst/>
            <a:ahLst/>
            <a:cxnLst/>
            <a:rect r="r" b="b" t="t" l="l"/>
            <a:pathLst>
              <a:path h="5876246" w="8455030">
                <a:moveTo>
                  <a:pt x="0" y="0"/>
                </a:moveTo>
                <a:lnTo>
                  <a:pt x="8455030" y="0"/>
                </a:lnTo>
                <a:lnTo>
                  <a:pt x="8455030" y="5876246"/>
                </a:lnTo>
                <a:lnTo>
                  <a:pt x="0" y="5876246"/>
                </a:lnTo>
                <a:lnTo>
                  <a:pt x="0" y="0"/>
                </a:lnTo>
                <a:close/>
              </a:path>
            </a:pathLst>
          </a:custGeom>
          <a:blipFill>
            <a:blip r:embed="rId6"/>
            <a:stretch>
              <a:fillRect l="0" t="0" r="0" b="0"/>
            </a:stretch>
          </a:blipFill>
          <a:ln w="38100" cap="sq">
            <a:solidFill>
              <a:srgbClr val="000000"/>
            </a:solidFill>
            <a:prstDash val="solid"/>
            <a:miter/>
          </a:ln>
        </p:spPr>
      </p:sp>
      <p:sp>
        <p:nvSpPr>
          <p:cNvPr name="TextBox 19" id="19"/>
          <p:cNvSpPr txBox="true"/>
          <p:nvPr/>
        </p:nvSpPr>
        <p:spPr>
          <a:xfrm rot="0">
            <a:off x="989332" y="1710510"/>
            <a:ext cx="8651763" cy="2451100"/>
          </a:xfrm>
          <a:prstGeom prst="rect">
            <a:avLst/>
          </a:prstGeom>
        </p:spPr>
        <p:txBody>
          <a:bodyPr anchor="t" rtlCol="false" tIns="0" lIns="0" bIns="0" rIns="0">
            <a:spAutoFit/>
          </a:bodyPr>
          <a:lstStyle/>
          <a:p>
            <a:pPr algn="l">
              <a:lnSpc>
                <a:spcPts val="9800"/>
              </a:lnSpc>
              <a:spcBef>
                <a:spcPct val="0"/>
              </a:spcBef>
            </a:pPr>
            <a:r>
              <a:rPr lang="en-US" sz="7000">
                <a:solidFill>
                  <a:srgbClr val="5A739E"/>
                </a:solidFill>
                <a:latin typeface="Bernoru"/>
                <a:ea typeface="Bernoru"/>
                <a:cs typeface="Bernoru"/>
                <a:sym typeface="Bernoru"/>
              </a:rPr>
              <a:t>ROC</a:t>
            </a:r>
            <a:r>
              <a:rPr lang="en-US" sz="7000">
                <a:solidFill>
                  <a:srgbClr val="5A739E"/>
                </a:solidFill>
                <a:latin typeface="Bernoru"/>
                <a:ea typeface="Bernoru"/>
                <a:cs typeface="Bernoru"/>
                <a:sym typeface="Bernoru"/>
              </a:rPr>
              <a:t> CURVE COMPARISON</a:t>
            </a:r>
          </a:p>
        </p:txBody>
      </p:sp>
      <p:sp>
        <p:nvSpPr>
          <p:cNvPr name="TextBox 20" id="20"/>
          <p:cNvSpPr txBox="true"/>
          <p:nvPr/>
        </p:nvSpPr>
        <p:spPr>
          <a:xfrm rot="0">
            <a:off x="1028700" y="5335730"/>
            <a:ext cx="8154668" cy="2472055"/>
          </a:xfrm>
          <a:prstGeom prst="rect">
            <a:avLst/>
          </a:prstGeom>
        </p:spPr>
        <p:txBody>
          <a:bodyPr anchor="t" rtlCol="false" tIns="0" lIns="0" bIns="0" rIns="0">
            <a:spAutoFit/>
          </a:bodyPr>
          <a:lstStyle/>
          <a:p>
            <a:pPr algn="l">
              <a:lnSpc>
                <a:spcPts val="3919"/>
              </a:lnSpc>
            </a:pPr>
            <a:r>
              <a:rPr lang="en-US" sz="2799">
                <a:solidFill>
                  <a:srgbClr val="6B87AF"/>
                </a:solidFill>
                <a:latin typeface="Alata"/>
                <a:ea typeface="Alata"/>
                <a:cs typeface="Alata"/>
                <a:sym typeface="Alata"/>
              </a:rPr>
              <a:t>ROC curves were plotted for each model. XGBoost displayed the highest area under the curve, indicating superior classification ability in distinguishing between heart disease and non-disease cases.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AFCFF"/>
        </a:solidFill>
      </p:bgPr>
    </p:bg>
    <p:spTree>
      <p:nvGrpSpPr>
        <p:cNvPr id="1" name=""/>
        <p:cNvGrpSpPr/>
        <p:nvPr/>
      </p:nvGrpSpPr>
      <p:grpSpPr>
        <a:xfrm>
          <a:off x="0" y="0"/>
          <a:ext cx="0" cy="0"/>
          <a:chOff x="0" y="0"/>
          <a:chExt cx="0" cy="0"/>
        </a:xfrm>
      </p:grpSpPr>
      <p:sp>
        <p:nvSpPr>
          <p:cNvPr name="AutoShape 2" id="2"/>
          <p:cNvSpPr/>
          <p:nvPr/>
        </p:nvSpPr>
        <p:spPr>
          <a:xfrm flipV="true">
            <a:off x="1028700" y="2134860"/>
            <a:ext cx="8828273" cy="0"/>
          </a:xfrm>
          <a:prstGeom prst="line">
            <a:avLst/>
          </a:prstGeom>
          <a:ln cap="flat" w="38100">
            <a:solidFill>
              <a:srgbClr val="BFD8EF"/>
            </a:solidFill>
            <a:prstDash val="solid"/>
            <a:headEnd type="none" len="sm" w="sm"/>
            <a:tailEnd type="none" len="sm" w="sm"/>
          </a:ln>
        </p:spPr>
      </p:sp>
      <p:sp>
        <p:nvSpPr>
          <p:cNvPr name="TextBox 3" id="3"/>
          <p:cNvSpPr txBox="true"/>
          <p:nvPr/>
        </p:nvSpPr>
        <p:spPr>
          <a:xfrm rot="0">
            <a:off x="989332" y="814060"/>
            <a:ext cx="11520127" cy="1212850"/>
          </a:xfrm>
          <a:prstGeom prst="rect">
            <a:avLst/>
          </a:prstGeom>
        </p:spPr>
        <p:txBody>
          <a:bodyPr anchor="t" rtlCol="false" tIns="0" lIns="0" bIns="0" rIns="0">
            <a:spAutoFit/>
          </a:bodyPr>
          <a:lstStyle/>
          <a:p>
            <a:pPr algn="l">
              <a:lnSpc>
                <a:spcPts val="9800"/>
              </a:lnSpc>
              <a:spcBef>
                <a:spcPct val="0"/>
              </a:spcBef>
            </a:pPr>
            <a:r>
              <a:rPr lang="en-US" sz="7000">
                <a:solidFill>
                  <a:srgbClr val="5A739E"/>
                </a:solidFill>
                <a:latin typeface="Bernoru"/>
                <a:ea typeface="Bernoru"/>
                <a:cs typeface="Bernoru"/>
                <a:sym typeface="Bernoru"/>
              </a:rPr>
              <a:t>CO</a:t>
            </a:r>
            <a:r>
              <a:rPr lang="en-US" sz="7000">
                <a:solidFill>
                  <a:srgbClr val="5A739E"/>
                </a:solidFill>
                <a:latin typeface="Bernoru"/>
                <a:ea typeface="Bernoru"/>
                <a:cs typeface="Bernoru"/>
                <a:sym typeface="Bernoru"/>
              </a:rPr>
              <a:t>NCLUSION</a:t>
            </a:r>
          </a:p>
        </p:txBody>
      </p:sp>
      <p:grpSp>
        <p:nvGrpSpPr>
          <p:cNvPr name="Group 4" id="4"/>
          <p:cNvGrpSpPr/>
          <p:nvPr/>
        </p:nvGrpSpPr>
        <p:grpSpPr>
          <a:xfrm rot="0">
            <a:off x="11725367" y="3516298"/>
            <a:ext cx="723274" cy="72327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6" id="6"/>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5659492" y="1579235"/>
            <a:ext cx="723274" cy="72327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9" id="9"/>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3087252" y="1217598"/>
            <a:ext cx="1084911" cy="10849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2" id="12"/>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671687" y="2666724"/>
            <a:ext cx="11058304" cy="6315584"/>
          </a:xfrm>
          <a:prstGeom prst="rect">
            <a:avLst/>
          </a:prstGeom>
        </p:spPr>
        <p:txBody>
          <a:bodyPr anchor="t" rtlCol="false" tIns="0" lIns="0" bIns="0" rIns="0">
            <a:spAutoFit/>
          </a:bodyPr>
          <a:lstStyle/>
          <a:p>
            <a:pPr algn="l">
              <a:lnSpc>
                <a:spcPts val="6355"/>
              </a:lnSpc>
            </a:pPr>
            <a:r>
              <a:rPr lang="en-US" sz="2799">
                <a:solidFill>
                  <a:srgbClr val="6B87AF"/>
                </a:solidFill>
                <a:latin typeface="Alata"/>
                <a:ea typeface="Alata"/>
                <a:cs typeface="Alata"/>
                <a:sym typeface="Alata"/>
              </a:rPr>
              <a:t>XGBoost emerged as the most accurate and reliable model for predicting heart disease. Logistic Regression and Random Forest also performed well and could serve as interpretable alternatives. Decision Trees performed weakest.</a:t>
            </a:r>
          </a:p>
          <a:p>
            <a:pPr algn="l">
              <a:lnSpc>
                <a:spcPts val="6355"/>
              </a:lnSpc>
            </a:pPr>
          </a:p>
          <a:p>
            <a:pPr algn="l">
              <a:lnSpc>
                <a:spcPts val="6355"/>
              </a:lnSpc>
            </a:pPr>
            <a:r>
              <a:rPr lang="en-US" sz="2799">
                <a:solidFill>
                  <a:srgbClr val="6B87AF"/>
                </a:solidFill>
                <a:latin typeface="Alata"/>
                <a:ea typeface="Alata"/>
                <a:cs typeface="Alata"/>
                <a:sym typeface="Alata"/>
              </a:rPr>
              <a:t>C</a:t>
            </a:r>
            <a:r>
              <a:rPr lang="en-US" sz="2799">
                <a:solidFill>
                  <a:srgbClr val="6B87AF"/>
                </a:solidFill>
                <a:latin typeface="Alata"/>
                <a:ea typeface="Alata"/>
                <a:cs typeface="Alata"/>
                <a:sym typeface="Alata"/>
              </a:rPr>
              <a:t>ritical medical features like blood pressure, age, and cholesterol were confirmed to significantly impact prediction.</a:t>
            </a:r>
          </a:p>
          <a:p>
            <a:pPr algn="l">
              <a:lnSpc>
                <a:spcPts val="6355"/>
              </a:lnSpc>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AFCFF"/>
        </a:solidFill>
      </p:bgPr>
    </p:bg>
    <p:spTree>
      <p:nvGrpSpPr>
        <p:cNvPr id="1" name=""/>
        <p:cNvGrpSpPr/>
        <p:nvPr/>
      </p:nvGrpSpPr>
      <p:grpSpPr>
        <a:xfrm>
          <a:off x="0" y="0"/>
          <a:ext cx="0" cy="0"/>
          <a:chOff x="0" y="0"/>
          <a:chExt cx="0" cy="0"/>
        </a:xfrm>
      </p:grpSpPr>
      <p:sp>
        <p:nvSpPr>
          <p:cNvPr name="AutoShape 2" id="2"/>
          <p:cNvSpPr/>
          <p:nvPr/>
        </p:nvSpPr>
        <p:spPr>
          <a:xfrm flipV="true">
            <a:off x="1028700" y="2848893"/>
            <a:ext cx="8828273" cy="0"/>
          </a:xfrm>
          <a:prstGeom prst="line">
            <a:avLst/>
          </a:prstGeom>
          <a:ln cap="flat" w="38100">
            <a:solidFill>
              <a:srgbClr val="BFD8EF"/>
            </a:solidFill>
            <a:prstDash val="solid"/>
            <a:headEnd type="none" len="sm" w="sm"/>
            <a:tailEnd type="none" len="sm" w="sm"/>
          </a:ln>
        </p:spPr>
      </p:sp>
      <p:sp>
        <p:nvSpPr>
          <p:cNvPr name="TextBox 3" id="3"/>
          <p:cNvSpPr txBox="true"/>
          <p:nvPr/>
        </p:nvSpPr>
        <p:spPr>
          <a:xfrm rot="0">
            <a:off x="1028700" y="518815"/>
            <a:ext cx="8549082" cy="2166619"/>
          </a:xfrm>
          <a:prstGeom prst="rect">
            <a:avLst/>
          </a:prstGeom>
        </p:spPr>
        <p:txBody>
          <a:bodyPr anchor="t" rtlCol="false" tIns="0" lIns="0" bIns="0" rIns="0">
            <a:spAutoFit/>
          </a:bodyPr>
          <a:lstStyle/>
          <a:p>
            <a:pPr algn="l">
              <a:lnSpc>
                <a:spcPts val="8680"/>
              </a:lnSpc>
              <a:spcBef>
                <a:spcPct val="0"/>
              </a:spcBef>
            </a:pPr>
            <a:r>
              <a:rPr lang="en-US" sz="6200">
                <a:solidFill>
                  <a:srgbClr val="5A739E"/>
                </a:solidFill>
                <a:latin typeface="Bernoru"/>
                <a:ea typeface="Bernoru"/>
                <a:cs typeface="Bernoru"/>
                <a:sym typeface="Bernoru"/>
              </a:rPr>
              <a:t>RECOMMENDATIONS &amp; FUTURE WORK</a:t>
            </a:r>
          </a:p>
        </p:txBody>
      </p:sp>
      <p:grpSp>
        <p:nvGrpSpPr>
          <p:cNvPr name="Group 4" id="4"/>
          <p:cNvGrpSpPr/>
          <p:nvPr/>
        </p:nvGrpSpPr>
        <p:grpSpPr>
          <a:xfrm rot="0">
            <a:off x="11725367" y="3516298"/>
            <a:ext cx="723274" cy="72327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6" id="6"/>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5659492" y="1579235"/>
            <a:ext cx="723274" cy="72327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9" id="9"/>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3087252" y="1217598"/>
            <a:ext cx="1084911" cy="10849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2" id="12"/>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28700" y="3172668"/>
            <a:ext cx="16230600" cy="6118225"/>
          </a:xfrm>
          <a:prstGeom prst="rect">
            <a:avLst/>
          </a:prstGeom>
        </p:spPr>
        <p:txBody>
          <a:bodyPr anchor="t" rtlCol="false" tIns="0" lIns="0" bIns="0" rIns="0">
            <a:spAutoFit/>
          </a:bodyPr>
          <a:lstStyle/>
          <a:p>
            <a:pPr algn="l">
              <a:lnSpc>
                <a:spcPts val="3499"/>
              </a:lnSpc>
            </a:pPr>
            <a:r>
              <a:rPr lang="en-US" sz="2499">
                <a:solidFill>
                  <a:srgbClr val="6B87AF"/>
                </a:solidFill>
                <a:latin typeface="Alata"/>
                <a:ea typeface="Alata"/>
                <a:cs typeface="Alata"/>
                <a:sym typeface="Alata"/>
              </a:rPr>
              <a:t>Based on the analysis, I recommend XGBoost for deployment in predictive healthcare systems where performance is critical. However, Logistic Regression and Random Forest are also strong candidates, particularly when interpretability and ease of use are essential. Decision Trees, while useful for exploratory analysis, are not recommended as standalone models due to their lower predictive performance.</a:t>
            </a:r>
          </a:p>
          <a:p>
            <a:pPr algn="l">
              <a:lnSpc>
                <a:spcPts val="3499"/>
              </a:lnSpc>
            </a:pPr>
          </a:p>
          <a:p>
            <a:pPr algn="l">
              <a:lnSpc>
                <a:spcPts val="3499"/>
              </a:lnSpc>
            </a:pPr>
            <a:r>
              <a:rPr lang="en-US" sz="2499">
                <a:solidFill>
                  <a:srgbClr val="6B87AF"/>
                </a:solidFill>
                <a:latin typeface="Alata"/>
                <a:ea typeface="Alata"/>
                <a:cs typeface="Alata"/>
                <a:sym typeface="Alata"/>
              </a:rPr>
              <a:t>While</a:t>
            </a:r>
            <a:r>
              <a:rPr lang="en-US" sz="2499">
                <a:solidFill>
                  <a:srgbClr val="6B87AF"/>
                </a:solidFill>
                <a:latin typeface="Alata"/>
                <a:ea typeface="Alata"/>
                <a:cs typeface="Alata"/>
                <a:sym typeface="Alata"/>
              </a:rPr>
              <a:t> the current results are promising, several directions can be pursued to improve and extend this study:</a:t>
            </a:r>
          </a:p>
          <a:p>
            <a:pPr algn="l" marL="539749" indent="-269875" lvl="1">
              <a:lnSpc>
                <a:spcPts val="3499"/>
              </a:lnSpc>
              <a:buFont typeface="Arial"/>
              <a:buChar char="•"/>
            </a:pPr>
            <a:r>
              <a:rPr lang="en-US" sz="2499">
                <a:solidFill>
                  <a:srgbClr val="6B87AF"/>
                </a:solidFill>
                <a:latin typeface="Alata"/>
                <a:ea typeface="Alata"/>
                <a:cs typeface="Alata"/>
                <a:sym typeface="Alata"/>
              </a:rPr>
              <a:t>Feature Expansion: Additional variables such as exercise frequency, diet, medication use, and family history of heart disease could enhance model performance.</a:t>
            </a:r>
          </a:p>
          <a:p>
            <a:pPr algn="l" marL="539749" indent="-269875" lvl="1">
              <a:lnSpc>
                <a:spcPts val="3499"/>
              </a:lnSpc>
              <a:buFont typeface="Arial"/>
              <a:buChar char="•"/>
            </a:pPr>
            <a:r>
              <a:rPr lang="en-US" sz="2499">
                <a:solidFill>
                  <a:srgbClr val="6B87AF"/>
                </a:solidFill>
                <a:latin typeface="Alata"/>
                <a:ea typeface="Alata"/>
                <a:cs typeface="Alata"/>
                <a:sym typeface="Alata"/>
              </a:rPr>
              <a:t>Hyperparameter Tuning: Further optimization of model parameters, especially for complex models like XGBoost and SVM, could lead to performance gains.</a:t>
            </a:r>
          </a:p>
          <a:p>
            <a:pPr algn="l" marL="539749" indent="-269875" lvl="1">
              <a:lnSpc>
                <a:spcPts val="3499"/>
              </a:lnSpc>
              <a:buFont typeface="Arial"/>
              <a:buChar char="•"/>
            </a:pPr>
            <a:r>
              <a:rPr lang="en-US" sz="2499">
                <a:solidFill>
                  <a:srgbClr val="6B87AF"/>
                </a:solidFill>
                <a:latin typeface="Alata"/>
                <a:ea typeface="Alata"/>
                <a:cs typeface="Alata"/>
                <a:sym typeface="Alata"/>
              </a:rPr>
              <a:t>Cross-Validation: Implementing k-fold cross-validation would ensure more robust model evaluation and generalizability.</a:t>
            </a:r>
          </a:p>
          <a:p>
            <a:pPr algn="l" marL="539749" indent="-269875" lvl="1">
              <a:lnSpc>
                <a:spcPts val="3499"/>
              </a:lnSpc>
              <a:buFont typeface="Arial"/>
              <a:buChar char="•"/>
            </a:pPr>
            <a:r>
              <a:rPr lang="en-US" sz="2499">
                <a:solidFill>
                  <a:srgbClr val="6B87AF"/>
                </a:solidFill>
                <a:latin typeface="Alata"/>
                <a:ea typeface="Alata"/>
                <a:cs typeface="Alata"/>
                <a:sym typeface="Alata"/>
              </a:rPr>
              <a:t>Imbalanced Data Handling: Techniques such as SMOTE or class weighting could improve model sensitivity to minority cases if class imbalance becomes an issue in future datasets.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TextBox 2" id="2"/>
          <p:cNvSpPr txBox="true"/>
          <p:nvPr/>
        </p:nvSpPr>
        <p:spPr>
          <a:xfrm rot="0">
            <a:off x="2980198" y="4041775"/>
            <a:ext cx="12327604" cy="1974851"/>
          </a:xfrm>
          <a:prstGeom prst="rect">
            <a:avLst/>
          </a:prstGeom>
        </p:spPr>
        <p:txBody>
          <a:bodyPr anchor="t" rtlCol="false" tIns="0" lIns="0" bIns="0" rIns="0">
            <a:spAutoFit/>
          </a:bodyPr>
          <a:lstStyle/>
          <a:p>
            <a:pPr algn="ctr">
              <a:lnSpc>
                <a:spcPts val="16099"/>
              </a:lnSpc>
              <a:spcBef>
                <a:spcPct val="0"/>
              </a:spcBef>
            </a:pPr>
            <a:r>
              <a:rPr lang="en-US" sz="11499">
                <a:solidFill>
                  <a:srgbClr val="5A739E"/>
                </a:solidFill>
                <a:latin typeface="Bernoru"/>
                <a:ea typeface="Bernoru"/>
                <a:cs typeface="Bernoru"/>
                <a:sym typeface="Bernoru"/>
              </a:rPr>
              <a:t>THANK YOU</a:t>
            </a:r>
          </a:p>
        </p:txBody>
      </p:sp>
      <p:sp>
        <p:nvSpPr>
          <p:cNvPr name="Freeform 3" id="3"/>
          <p:cNvSpPr/>
          <p:nvPr/>
        </p:nvSpPr>
        <p:spPr>
          <a:xfrm flipH="false" flipV="false" rot="611243">
            <a:off x="14799225" y="2528062"/>
            <a:ext cx="5081872" cy="10063113"/>
          </a:xfrm>
          <a:custGeom>
            <a:avLst/>
            <a:gdLst/>
            <a:ahLst/>
            <a:cxnLst/>
            <a:rect r="r" b="b" t="t" l="l"/>
            <a:pathLst>
              <a:path h="10063113" w="5081872">
                <a:moveTo>
                  <a:pt x="0" y="0"/>
                </a:moveTo>
                <a:lnTo>
                  <a:pt x="5081872" y="0"/>
                </a:lnTo>
                <a:lnTo>
                  <a:pt x="5081872" y="10063113"/>
                </a:lnTo>
                <a:lnTo>
                  <a:pt x="0" y="1006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731359">
            <a:off x="-1471917" y="6004371"/>
            <a:ext cx="5675610" cy="5257034"/>
          </a:xfrm>
          <a:custGeom>
            <a:avLst/>
            <a:gdLst/>
            <a:ahLst/>
            <a:cxnLst/>
            <a:rect r="r" b="b" t="t" l="l"/>
            <a:pathLst>
              <a:path h="5257034" w="5675610">
                <a:moveTo>
                  <a:pt x="5675610" y="0"/>
                </a:moveTo>
                <a:lnTo>
                  <a:pt x="0" y="0"/>
                </a:lnTo>
                <a:lnTo>
                  <a:pt x="0" y="5257034"/>
                </a:lnTo>
                <a:lnTo>
                  <a:pt x="5675610" y="5257034"/>
                </a:lnTo>
                <a:lnTo>
                  <a:pt x="567561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3973336">
            <a:off x="-844617" y="597482"/>
            <a:ext cx="1689234" cy="3120987"/>
          </a:xfrm>
          <a:custGeom>
            <a:avLst/>
            <a:gdLst/>
            <a:ahLst/>
            <a:cxnLst/>
            <a:rect r="r" b="b" t="t" l="l"/>
            <a:pathLst>
              <a:path h="3120987" w="1689234">
                <a:moveTo>
                  <a:pt x="1689234" y="0"/>
                </a:moveTo>
                <a:lnTo>
                  <a:pt x="0" y="0"/>
                </a:lnTo>
                <a:lnTo>
                  <a:pt x="0" y="3120988"/>
                </a:lnTo>
                <a:lnTo>
                  <a:pt x="1689234" y="3120988"/>
                </a:lnTo>
                <a:lnTo>
                  <a:pt x="168923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1563251">
            <a:off x="16474745" y="260643"/>
            <a:ext cx="1730834" cy="1536115"/>
          </a:xfrm>
          <a:custGeom>
            <a:avLst/>
            <a:gdLst/>
            <a:ahLst/>
            <a:cxnLst/>
            <a:rect r="r" b="b" t="t" l="l"/>
            <a:pathLst>
              <a:path h="1536115" w="1730834">
                <a:moveTo>
                  <a:pt x="1730833" y="0"/>
                </a:moveTo>
                <a:lnTo>
                  <a:pt x="0" y="0"/>
                </a:lnTo>
                <a:lnTo>
                  <a:pt x="0" y="1536114"/>
                </a:lnTo>
                <a:lnTo>
                  <a:pt x="1730833" y="1536114"/>
                </a:lnTo>
                <a:lnTo>
                  <a:pt x="1730833"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8791720" y="8632888"/>
            <a:ext cx="704559" cy="7045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9" id="9"/>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2022107" y="3407374"/>
            <a:ext cx="704559" cy="70455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2" id="12"/>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4296778" y="1394257"/>
            <a:ext cx="704559" cy="70455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AEDFF"/>
            </a:solidFill>
            <a:ln cap="sq">
              <a:noFill/>
              <a:prstDash val="solid"/>
              <a:miter/>
            </a:ln>
          </p:spPr>
        </p:sp>
        <p:sp>
          <p:nvSpPr>
            <p:cNvPr name="TextBox 15" id="1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6" id="16"/>
          <p:cNvSpPr/>
          <p:nvPr/>
        </p:nvSpPr>
        <p:spPr>
          <a:xfrm flipH="true" flipV="false" rot="-9153532">
            <a:off x="8756610" y="-621843"/>
            <a:ext cx="1725885" cy="2524146"/>
          </a:xfrm>
          <a:custGeom>
            <a:avLst/>
            <a:gdLst/>
            <a:ahLst/>
            <a:cxnLst/>
            <a:rect r="r" b="b" t="t" l="l"/>
            <a:pathLst>
              <a:path h="2524146" w="1725885">
                <a:moveTo>
                  <a:pt x="1725885" y="0"/>
                </a:moveTo>
                <a:lnTo>
                  <a:pt x="0" y="0"/>
                </a:lnTo>
                <a:lnTo>
                  <a:pt x="0" y="2524146"/>
                </a:lnTo>
                <a:lnTo>
                  <a:pt x="1725885" y="2524146"/>
                </a:lnTo>
                <a:lnTo>
                  <a:pt x="172588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DAGlgEaKaQQ</dc:identifier>
  <dcterms:modified xsi:type="dcterms:W3CDTF">2011-08-01T06:04:30Z</dcterms:modified>
  <cp:revision>1</cp:revision>
  <dc:title>Manalo_CAPSTONE3 - Healthcare Dataset</dc:title>
</cp:coreProperties>
</file>